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9" r:id="rId3"/>
    <p:sldId id="268" r:id="rId4"/>
    <p:sldId id="260" r:id="rId5"/>
    <p:sldId id="261" r:id="rId6"/>
    <p:sldId id="282" r:id="rId7"/>
    <p:sldId id="262" r:id="rId8"/>
    <p:sldId id="270" r:id="rId9"/>
    <p:sldId id="271" r:id="rId10"/>
    <p:sldId id="272" r:id="rId11"/>
    <p:sldId id="273" r:id="rId12"/>
    <p:sldId id="283" r:id="rId13"/>
    <p:sldId id="284" r:id="rId14"/>
    <p:sldId id="285" r:id="rId15"/>
    <p:sldId id="274" r:id="rId16"/>
    <p:sldId id="278" r:id="rId17"/>
    <p:sldId id="279" r:id="rId18"/>
    <p:sldId id="280" r:id="rId19"/>
    <p:sldId id="286" r:id="rId20"/>
    <p:sldId id="287" r:id="rId21"/>
    <p:sldId id="269" r:id="rId22"/>
    <p:sldId id="276" r:id="rId23"/>
    <p:sldId id="277" r:id="rId24"/>
    <p:sldId id="267" r:id="rId2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2A8BA1-DECF-4474-ABCE-3834E56135C1}" v="2" dt="2026-02-08T16:17:10.792"/>
  </p1510:revLst>
</p1510:revInfo>
</file>

<file path=ppt/tableStyles.xml><?xml version="1.0" encoding="utf-8"?>
<a:tblStyleLst xmlns:a="http://schemas.openxmlformats.org/drawingml/2006/main" def="{5C22544A-7EE6-4342-B048-85BDC9FD1C3A}">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20"/>
    <p:restoredTop sz="95033" autoAdjust="0"/>
  </p:normalViewPr>
  <p:slideViewPr>
    <p:cSldViewPr snapToGrid="0">
      <p:cViewPr varScale="1">
        <p:scale>
          <a:sx n="82" d="100"/>
          <a:sy n="82" d="100"/>
        </p:scale>
        <p:origin x="691"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 Id="rId30" Type="http://schemas.microsoft.com/office/2015/10/relationships/revisionInfo" Target="revisionInfo.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AB22F-C504-3D4F-202C-0ADF4C2A61F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EE9297C-036F-FA24-294A-5859CAA109C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DFC24FFA-1FC7-7412-EBC3-98DA2910D720}"/>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5" name="Footer Placeholder 4">
            <a:extLst>
              <a:ext uri="{FF2B5EF4-FFF2-40B4-BE49-F238E27FC236}">
                <a16:creationId xmlns:a16="http://schemas.microsoft.com/office/drawing/2014/main" id="{3CDC5FDF-6940-B574-8606-817C6C09669A}"/>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93E1CF6-1B69-25CA-84DD-1F87CF23C0EC}"/>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258424425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404085-E858-B724-F436-5AB6572E48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B9A0148-F30D-00F1-A99A-AD4CC0D9635B}"/>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CA65576-E261-32EF-DDE5-A6D9A73D465D}"/>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5" name="Footer Placeholder 4">
            <a:extLst>
              <a:ext uri="{FF2B5EF4-FFF2-40B4-BE49-F238E27FC236}">
                <a16:creationId xmlns:a16="http://schemas.microsoft.com/office/drawing/2014/main" id="{364C840C-5B3B-2623-D103-043BCA4E575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A1DB30B-8EF4-FE3A-AE5D-51691AA6B0B0}"/>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159761061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D67B9E-C36C-495B-456C-F5207002AA2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F6D55F4-53C0-B5BF-39DE-113B7B058460}"/>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5FD7EADF-0919-A837-E2CB-8140121E24EA}"/>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5" name="Footer Placeholder 4">
            <a:extLst>
              <a:ext uri="{FF2B5EF4-FFF2-40B4-BE49-F238E27FC236}">
                <a16:creationId xmlns:a16="http://schemas.microsoft.com/office/drawing/2014/main" id="{DFE8D70F-2BE1-C4F4-DE92-7A74726B05E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477C6E-DC68-876F-C829-A26ADCCCC3FC}"/>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322973568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CA0B99-B56C-549B-83EC-1FA48D96E45C}"/>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12D39E-55E1-8926-DAF6-1E6C012C23B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1C7CA83E-48C6-B684-373A-B40D6DEF98C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DB7016B1-D5F9-088A-243D-C94D7D8F0A76}"/>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6" name="Footer Placeholder 5">
            <a:extLst>
              <a:ext uri="{FF2B5EF4-FFF2-40B4-BE49-F238E27FC236}">
                <a16:creationId xmlns:a16="http://schemas.microsoft.com/office/drawing/2014/main" id="{BB7BAC19-C741-58E0-C0AF-0689D0CF031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A0489309-AAE8-11EF-B1AC-4E05F4849AA6}"/>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38074720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9772DF-61D3-617E-3572-408B595FB203}"/>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E5CBE34-D35A-6654-C690-A59EE3257F3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DD1EAD0-35C1-4D97-08A6-B282B013368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6DBD686C-56C4-D8E4-1101-DCEE15E70A8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D0891C0-917B-7DE5-D654-B3195ECA54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3EC4A864-4DC0-9534-CA5F-E7818B3DD768}"/>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8" name="Footer Placeholder 7">
            <a:extLst>
              <a:ext uri="{FF2B5EF4-FFF2-40B4-BE49-F238E27FC236}">
                <a16:creationId xmlns:a16="http://schemas.microsoft.com/office/drawing/2014/main" id="{EF30F23A-FBBE-7B5E-8EA6-CA2C83ED612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D71582A-66C3-8B81-7B7C-4BD158813C8F}"/>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24637673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44A19B-7D82-E2F2-4F30-CE9E3384502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E83CBD0-F08A-C49D-D82A-2628590C2AF2}"/>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4" name="Footer Placeholder 3">
            <a:extLst>
              <a:ext uri="{FF2B5EF4-FFF2-40B4-BE49-F238E27FC236}">
                <a16:creationId xmlns:a16="http://schemas.microsoft.com/office/drawing/2014/main" id="{C0F8EA5F-0C4F-BD1E-AAE4-4150C7C1EEC6}"/>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91203B21-0A6B-5828-F991-EB65FAB7F34B}"/>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113378310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BDE40CB-DAF4-0E17-6713-AB4E9A601B55}"/>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3" name="Footer Placeholder 2">
            <a:extLst>
              <a:ext uri="{FF2B5EF4-FFF2-40B4-BE49-F238E27FC236}">
                <a16:creationId xmlns:a16="http://schemas.microsoft.com/office/drawing/2014/main" id="{8983E428-BF98-931F-8A9F-EF03BD58907E}"/>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9E309CD-F66F-5545-EA31-CB64B2008390}"/>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23848840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0BA8B7-2B09-A285-616C-48302A703CB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7616212-06EE-3F59-0029-833F129C7E9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672F11A-ED59-2892-E571-A87A1AF3D39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A6E6619B-4D95-A428-1F71-60709F5F37C1}"/>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6" name="Footer Placeholder 5">
            <a:extLst>
              <a:ext uri="{FF2B5EF4-FFF2-40B4-BE49-F238E27FC236}">
                <a16:creationId xmlns:a16="http://schemas.microsoft.com/office/drawing/2014/main" id="{1F1797BA-B882-DCC7-DE69-31F1566B910B}"/>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8D9C14A3-0857-1FAC-B850-A35656C36E54}"/>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40349219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DB6D82-FC85-FB4A-3E88-8710522A105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63EC33D-09D1-144E-F776-C048675F73D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D9ED61-92C7-8F8A-BD16-A9937CECF22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2AF1157-1A4B-C799-9D6F-6B4DB175D069}"/>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6" name="Footer Placeholder 5">
            <a:extLst>
              <a:ext uri="{FF2B5EF4-FFF2-40B4-BE49-F238E27FC236}">
                <a16:creationId xmlns:a16="http://schemas.microsoft.com/office/drawing/2014/main" id="{128F6AA2-F8FA-D6E7-8582-378F4732700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EA18D82-D220-A515-BB5A-810BAD024738}"/>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89154815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60EF8D-C1AE-A4C9-9190-1577F3B047F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775E532D-4666-54C8-7B1E-EE075CDE447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0CFDF8C-64AA-1B7B-9327-16FE8D4C8206}"/>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5" name="Footer Placeholder 4">
            <a:extLst>
              <a:ext uri="{FF2B5EF4-FFF2-40B4-BE49-F238E27FC236}">
                <a16:creationId xmlns:a16="http://schemas.microsoft.com/office/drawing/2014/main" id="{C1874306-AAEB-A186-F56F-AAC88FC9350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1FA41E9-443B-EE89-E57A-7C14B980F8CF}"/>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4734896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0D55036-E0E1-B44E-ECF3-30CF0C7D378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DC256C00-4EC1-4349-5FC5-C8E3E0024AD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58548F1-9B06-67E7-74EA-79312A462BF9}"/>
              </a:ext>
            </a:extLst>
          </p:cNvPr>
          <p:cNvSpPr>
            <a:spLocks noGrp="1"/>
          </p:cNvSpPr>
          <p:nvPr>
            <p:ph type="dt" sz="half" idx="10"/>
          </p:nvPr>
        </p:nvSpPr>
        <p:spPr/>
        <p:txBody>
          <a:bodyPr/>
          <a:lstStyle/>
          <a:p>
            <a:fld id="{4FB92467-530E-44BA-8964-D4B76DEB30B6}" type="datetimeFigureOut">
              <a:rPr lang="en-IN" smtClean="0"/>
              <a:t>08-04-2026</a:t>
            </a:fld>
            <a:endParaRPr lang="en-IN"/>
          </a:p>
        </p:txBody>
      </p:sp>
      <p:sp>
        <p:nvSpPr>
          <p:cNvPr id="5" name="Footer Placeholder 4">
            <a:extLst>
              <a:ext uri="{FF2B5EF4-FFF2-40B4-BE49-F238E27FC236}">
                <a16:creationId xmlns:a16="http://schemas.microsoft.com/office/drawing/2014/main" id="{B2FDF067-DD6B-A48B-C32F-93609A6380C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416FAED-163C-90B4-BC6A-F4A974087130}"/>
              </a:ext>
            </a:extLst>
          </p:cNvPr>
          <p:cNvSpPr>
            <a:spLocks noGrp="1"/>
          </p:cNvSpPr>
          <p:nvPr>
            <p:ph type="sldNum" sz="quarter" idx="12"/>
          </p:nvPr>
        </p:nvSpPr>
        <p:spPr/>
        <p:txBody>
          <a:bodyPr/>
          <a:lstStyle/>
          <a:p>
            <a:fld id="{37032187-B562-45EE-B837-C1E0015EB7E2}" type="slidenum">
              <a:rPr lang="en-IN" smtClean="0"/>
              <a:t>‹#›</a:t>
            </a:fld>
            <a:endParaRPr lang="en-IN"/>
          </a:p>
        </p:txBody>
      </p:sp>
    </p:spTree>
    <p:extLst>
      <p:ext uri="{BB962C8B-B14F-4D97-AF65-F5344CB8AC3E}">
        <p14:creationId xmlns:p14="http://schemas.microsoft.com/office/powerpoint/2010/main" val="94223513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16EFA3-F7DD-01CC-A0FE-AD5BB86177E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E001A0E-EC4C-F031-2F8D-70BF5F2FFF1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3D1BEAE-9329-6F06-BC2E-419671592F8C}"/>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FB92467-530E-44BA-8964-D4B76DEB30B6}" type="datetimeFigureOut">
              <a:rPr lang="en-IN" smtClean="0"/>
              <a:t>08-04-2026</a:t>
            </a:fld>
            <a:endParaRPr lang="en-IN"/>
          </a:p>
        </p:txBody>
      </p:sp>
      <p:sp>
        <p:nvSpPr>
          <p:cNvPr id="5" name="Footer Placeholder 4">
            <a:extLst>
              <a:ext uri="{FF2B5EF4-FFF2-40B4-BE49-F238E27FC236}">
                <a16:creationId xmlns:a16="http://schemas.microsoft.com/office/drawing/2014/main" id="{867387C7-9F29-E86C-E77B-5AE6DA96FBD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89829F93-E4D5-528A-E2CA-BDB1C878DF6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7032187-B562-45EE-B837-C1E0015EB7E2}" type="slidenum">
              <a:rPr lang="en-IN" smtClean="0"/>
              <a:t>‹#›</a:t>
            </a:fld>
            <a:endParaRPr lang="en-IN"/>
          </a:p>
        </p:txBody>
      </p:sp>
    </p:spTree>
    <p:extLst>
      <p:ext uri="{BB962C8B-B14F-4D97-AF65-F5344CB8AC3E}">
        <p14:creationId xmlns:p14="http://schemas.microsoft.com/office/powerpoint/2010/main" val="53641316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5.jpeg"/><Relationship Id="rId1" Type="http://schemas.openxmlformats.org/officeDocument/2006/relationships/slideLayout" Target="../slideLayouts/slideLayout7.xml"/><Relationship Id="rId4" Type="http://schemas.openxmlformats.org/officeDocument/2006/relationships/image" Target="../media/image7.jpeg"/></Relationships>
</file>

<file path=ppt/slides/_rels/slide1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8.jpeg"/><Relationship Id="rId1" Type="http://schemas.openxmlformats.org/officeDocument/2006/relationships/slideLayout" Target="../slideLayouts/slideLayout7.xml"/><Relationship Id="rId4" Type="http://schemas.openxmlformats.org/officeDocument/2006/relationships/image" Target="../media/image10.jpeg"/></Relationships>
</file>

<file path=ppt/slides/_rels/slide18.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7FDCF4C7-AD59-4A2A-14A9-BE158AF85417}"/>
              </a:ext>
            </a:extLst>
          </p:cNvPr>
          <p:cNvPicPr>
            <a:picLocks noChangeAspect="1"/>
          </p:cNvPicPr>
          <p:nvPr/>
        </p:nvPicPr>
        <p:blipFill>
          <a:blip r:embed="rId2"/>
          <a:stretch>
            <a:fillRect/>
          </a:stretch>
        </p:blipFill>
        <p:spPr>
          <a:xfrm>
            <a:off x="106680" y="125730"/>
            <a:ext cx="11978640" cy="2299836"/>
          </a:xfrm>
          <a:prstGeom prst="rect">
            <a:avLst/>
          </a:prstGeom>
        </p:spPr>
      </p:pic>
      <p:sp>
        <p:nvSpPr>
          <p:cNvPr id="4" name="Rectangle 3">
            <a:extLst>
              <a:ext uri="{FF2B5EF4-FFF2-40B4-BE49-F238E27FC236}">
                <a16:creationId xmlns:a16="http://schemas.microsoft.com/office/drawing/2014/main" id="{25C24BA4-1672-F3A0-553F-F4189D2493E6}"/>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DCC5F7B8-B135-77E3-9263-64B09C1AB745}"/>
              </a:ext>
            </a:extLst>
          </p:cNvPr>
          <p:cNvSpPr txBox="1"/>
          <p:nvPr/>
        </p:nvSpPr>
        <p:spPr>
          <a:xfrm>
            <a:off x="449576" y="2667252"/>
            <a:ext cx="11381329" cy="830997"/>
          </a:xfrm>
          <a:prstGeom prst="rect">
            <a:avLst/>
          </a:prstGeom>
          <a:noFill/>
        </p:spPr>
        <p:txBody>
          <a:bodyPr wrap="square" rtlCol="0">
            <a:spAutoFit/>
          </a:bodyPr>
          <a:lstStyle/>
          <a:p>
            <a:pPr algn="ctr"/>
            <a:r>
              <a:rPr lang="en-US" sz="2400" b="1" dirty="0"/>
              <a:t>AI-BASED PLANT DIAGNOSIS RECOVERY ROADMAP AND HARVEST PROFIT FORECASTING TOOL</a:t>
            </a:r>
            <a:endParaRPr lang="en-IN" sz="2400" b="1" dirty="0"/>
          </a:p>
        </p:txBody>
      </p:sp>
      <p:sp>
        <p:nvSpPr>
          <p:cNvPr id="6" name="TextBox 5">
            <a:extLst>
              <a:ext uri="{FF2B5EF4-FFF2-40B4-BE49-F238E27FC236}">
                <a16:creationId xmlns:a16="http://schemas.microsoft.com/office/drawing/2014/main" id="{D45CF882-CBD5-47F8-C876-B1C51D058D8B}"/>
              </a:ext>
            </a:extLst>
          </p:cNvPr>
          <p:cNvSpPr txBox="1"/>
          <p:nvPr/>
        </p:nvSpPr>
        <p:spPr>
          <a:xfrm>
            <a:off x="449576" y="3653676"/>
            <a:ext cx="11292839" cy="830997"/>
          </a:xfrm>
          <a:prstGeom prst="rect">
            <a:avLst/>
          </a:prstGeom>
          <a:noFill/>
        </p:spPr>
        <p:txBody>
          <a:bodyPr wrap="square" rtlCol="0">
            <a:spAutoFit/>
          </a:bodyPr>
          <a:lstStyle/>
          <a:p>
            <a:pPr algn="ctr"/>
            <a:r>
              <a:rPr lang="en-IN" sz="2400" b="1" dirty="0"/>
              <a:t>SELVA KUMAR P - 42120202</a:t>
            </a:r>
          </a:p>
          <a:p>
            <a:pPr algn="ctr"/>
            <a:r>
              <a:rPr lang="en-IN" sz="2400" b="1" dirty="0"/>
              <a:t>SRI HARI R - 42120219</a:t>
            </a:r>
          </a:p>
        </p:txBody>
      </p:sp>
      <p:sp>
        <p:nvSpPr>
          <p:cNvPr id="7" name="TextBox 6">
            <a:extLst>
              <a:ext uri="{FF2B5EF4-FFF2-40B4-BE49-F238E27FC236}">
                <a16:creationId xmlns:a16="http://schemas.microsoft.com/office/drawing/2014/main" id="{BA4EEBDD-18A9-8C36-08EA-047A1DBFC645}"/>
              </a:ext>
            </a:extLst>
          </p:cNvPr>
          <p:cNvSpPr txBox="1"/>
          <p:nvPr/>
        </p:nvSpPr>
        <p:spPr>
          <a:xfrm>
            <a:off x="449576" y="4640101"/>
            <a:ext cx="11292839" cy="461665"/>
          </a:xfrm>
          <a:prstGeom prst="rect">
            <a:avLst/>
          </a:prstGeom>
          <a:noFill/>
        </p:spPr>
        <p:txBody>
          <a:bodyPr wrap="square" rtlCol="0">
            <a:spAutoFit/>
          </a:bodyPr>
          <a:lstStyle/>
          <a:p>
            <a:pPr algn="ctr"/>
            <a:r>
              <a:rPr lang="en-IN" sz="2400" b="1" dirty="0">
                <a:solidFill>
                  <a:srgbClr val="FF0000"/>
                </a:solidFill>
              </a:rPr>
              <a:t>Guide</a:t>
            </a:r>
          </a:p>
        </p:txBody>
      </p:sp>
      <p:sp>
        <p:nvSpPr>
          <p:cNvPr id="8" name="TextBox 7">
            <a:extLst>
              <a:ext uri="{FF2B5EF4-FFF2-40B4-BE49-F238E27FC236}">
                <a16:creationId xmlns:a16="http://schemas.microsoft.com/office/drawing/2014/main" id="{6A0D6EBD-2A90-500D-ED74-DDC09696127E}"/>
              </a:ext>
            </a:extLst>
          </p:cNvPr>
          <p:cNvSpPr txBox="1"/>
          <p:nvPr/>
        </p:nvSpPr>
        <p:spPr>
          <a:xfrm>
            <a:off x="538066" y="5074590"/>
            <a:ext cx="11292839" cy="830997"/>
          </a:xfrm>
          <a:prstGeom prst="rect">
            <a:avLst/>
          </a:prstGeom>
          <a:noFill/>
        </p:spPr>
        <p:txBody>
          <a:bodyPr wrap="square" rtlCol="0">
            <a:spAutoFit/>
          </a:bodyPr>
          <a:lstStyle/>
          <a:p>
            <a:pPr algn="ctr"/>
            <a:r>
              <a:rPr lang="en-US" sz="2400" b="1" dirty="0">
                <a:solidFill>
                  <a:schemeClr val="dk1"/>
                </a:solidFill>
                <a:ea typeface="Arial"/>
                <a:cs typeface="Arial"/>
                <a:sym typeface="Arial"/>
              </a:rPr>
              <a:t>DR. P. </a:t>
            </a:r>
            <a:r>
              <a:rPr lang="en-US" sz="2400" b="1" dirty="0">
                <a:solidFill>
                  <a:schemeClr val="dk1"/>
                </a:solidFill>
              </a:rPr>
              <a:t>JEYANTHI </a:t>
            </a:r>
            <a:r>
              <a:rPr lang="en-US" sz="2400" b="1" dirty="0">
                <a:solidFill>
                  <a:schemeClr val="dk1"/>
                </a:solidFill>
                <a:ea typeface="Arial"/>
                <a:cs typeface="Arial"/>
                <a:sym typeface="Arial"/>
              </a:rPr>
              <a:t>M.</a:t>
            </a:r>
            <a:r>
              <a:rPr lang="en-US" sz="2400" b="1" dirty="0">
                <a:solidFill>
                  <a:schemeClr val="dk1"/>
                </a:solidFill>
              </a:rPr>
              <a:t>E.</a:t>
            </a:r>
            <a:r>
              <a:rPr lang="en-US" sz="2400" b="1" dirty="0">
                <a:solidFill>
                  <a:schemeClr val="dk1"/>
                </a:solidFill>
                <a:ea typeface="Arial"/>
                <a:cs typeface="Arial"/>
                <a:sym typeface="Arial"/>
              </a:rPr>
              <a:t>,PH.D.,</a:t>
            </a:r>
            <a:endParaRPr lang="en-IN" sz="2400" b="1" dirty="0">
              <a:solidFill>
                <a:schemeClr val="dk1"/>
              </a:solidFill>
              <a:ea typeface="Arial"/>
              <a:cs typeface="Arial"/>
              <a:sym typeface="Arial"/>
            </a:endParaRPr>
          </a:p>
          <a:p>
            <a:pPr algn="ctr"/>
            <a:r>
              <a:rPr lang="en-IN" sz="2400" b="1" dirty="0"/>
              <a:t>PROFESSOR</a:t>
            </a:r>
          </a:p>
        </p:txBody>
      </p:sp>
    </p:spTree>
    <p:extLst>
      <p:ext uri="{BB962C8B-B14F-4D97-AF65-F5344CB8AC3E}">
        <p14:creationId xmlns:p14="http://schemas.microsoft.com/office/powerpoint/2010/main" val="192887118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C6F6-00EC-9AA5-2F7B-D5A10C0ECB8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F177B57-3893-B765-163F-D936C56E8903}"/>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BD81793-BE85-4F92-4AC2-05B0B1879388}"/>
              </a:ext>
            </a:extLst>
          </p:cNvPr>
          <p:cNvSpPr txBox="1"/>
          <p:nvPr/>
        </p:nvSpPr>
        <p:spPr>
          <a:xfrm>
            <a:off x="4074794" y="283729"/>
            <a:ext cx="4042412" cy="646331"/>
          </a:xfrm>
          <a:prstGeom prst="rect">
            <a:avLst/>
          </a:prstGeom>
          <a:noFill/>
        </p:spPr>
        <p:txBody>
          <a:bodyPr wrap="square" rtlCol="0">
            <a:spAutoFit/>
          </a:bodyPr>
          <a:lstStyle/>
          <a:p>
            <a:pPr algn="ctr"/>
            <a:r>
              <a:rPr lang="en-IN" sz="3600" b="1" dirty="0"/>
              <a:t>ABSTRACT</a:t>
            </a:r>
          </a:p>
        </p:txBody>
      </p:sp>
      <p:sp>
        <p:nvSpPr>
          <p:cNvPr id="6" name="TextBox 5">
            <a:extLst>
              <a:ext uri="{FF2B5EF4-FFF2-40B4-BE49-F238E27FC236}">
                <a16:creationId xmlns:a16="http://schemas.microsoft.com/office/drawing/2014/main" id="{D8B4C1D1-776F-6450-84C1-AB19D120A7C8}"/>
              </a:ext>
            </a:extLst>
          </p:cNvPr>
          <p:cNvSpPr txBox="1"/>
          <p:nvPr/>
        </p:nvSpPr>
        <p:spPr>
          <a:xfrm>
            <a:off x="248126" y="1110919"/>
            <a:ext cx="11695748" cy="5122941"/>
          </a:xfrm>
          <a:prstGeom prst="rect">
            <a:avLst/>
          </a:prstGeom>
          <a:noFill/>
        </p:spPr>
        <p:txBody>
          <a:bodyPr wrap="square" rtlCol="0">
            <a:spAutoFit/>
          </a:bodyPr>
          <a:lstStyle/>
          <a:p>
            <a:pPr algn="just">
              <a:lnSpc>
                <a:spcPct val="150000"/>
              </a:lnSpc>
            </a:pPr>
            <a:r>
              <a:rPr lang="en-US" sz="2000" dirty="0"/>
              <a:t>In modern agriculture, plant diseases and environmental stressors significantly reduce crop yield and farmer profitability. Conventional manual diagnosis methods are often time-consuming, subjective, and prone to errors, resulting in delayed corrective actions. To address these challenges, this work presents an AI-based plant diagnosis system that integrates real-time full-plant scanning and image capture using camera-based inputs for accurate disease detection. The proposed system analyzes plant health conditions, generates a step-by-step recovery roadmap, and estimates potential harvest profit by considering crop type, cultivation area, expected yield, market price, and production costs. Experimental results demonstrate reliable disease identification and accurate profit forecasting, highlighting the system’s effectiveness for practical smart farming and decision-support applications. The proposed approach reduces dependency on expert intervention and enables early-stage disease detection through automated analysis. By combining plant health assessment with economic forecasting, the system supports informed decision-making for farmers.</a:t>
            </a:r>
            <a:endParaRPr lang="en-IN" sz="2000" dirty="0"/>
          </a:p>
        </p:txBody>
      </p:sp>
      <p:cxnSp>
        <p:nvCxnSpPr>
          <p:cNvPr id="9" name="Straight Connector 8">
            <a:extLst>
              <a:ext uri="{FF2B5EF4-FFF2-40B4-BE49-F238E27FC236}">
                <a16:creationId xmlns:a16="http://schemas.microsoft.com/office/drawing/2014/main" id="{1D3FA599-9B63-6827-29B4-095D6BAA602E}"/>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11584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8A661-AD72-AFBA-D353-092EBE3B4CB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125AA84-16DA-CB94-3F81-C494EA0294E6}"/>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8E743388-D8B8-36FE-CAE4-3F3C4CD1BF18}"/>
              </a:ext>
            </a:extLst>
          </p:cNvPr>
          <p:cNvSpPr txBox="1"/>
          <p:nvPr/>
        </p:nvSpPr>
        <p:spPr>
          <a:xfrm>
            <a:off x="4074794" y="283729"/>
            <a:ext cx="4042412" cy="646331"/>
          </a:xfrm>
          <a:prstGeom prst="rect">
            <a:avLst/>
          </a:prstGeom>
          <a:noFill/>
        </p:spPr>
        <p:txBody>
          <a:bodyPr wrap="square" rtlCol="0">
            <a:spAutoFit/>
          </a:bodyPr>
          <a:lstStyle/>
          <a:p>
            <a:pPr algn="ctr"/>
            <a:r>
              <a:rPr lang="en-IN" sz="3600" b="1" dirty="0"/>
              <a:t>INTRODUCTION</a:t>
            </a:r>
          </a:p>
        </p:txBody>
      </p:sp>
      <p:sp>
        <p:nvSpPr>
          <p:cNvPr id="6" name="TextBox 5">
            <a:extLst>
              <a:ext uri="{FF2B5EF4-FFF2-40B4-BE49-F238E27FC236}">
                <a16:creationId xmlns:a16="http://schemas.microsoft.com/office/drawing/2014/main" id="{DE50B36E-6A32-9D06-7C01-E9F032088042}"/>
              </a:ext>
            </a:extLst>
          </p:cNvPr>
          <p:cNvSpPr txBox="1"/>
          <p:nvPr/>
        </p:nvSpPr>
        <p:spPr>
          <a:xfrm>
            <a:off x="248602" y="1143000"/>
            <a:ext cx="11695748" cy="5584606"/>
          </a:xfrm>
          <a:prstGeom prst="rect">
            <a:avLst/>
          </a:prstGeom>
          <a:noFill/>
        </p:spPr>
        <p:txBody>
          <a:bodyPr wrap="square" rtlCol="0">
            <a:spAutoFit/>
          </a:bodyPr>
          <a:lstStyle/>
          <a:p>
            <a:pPr algn="just">
              <a:lnSpc>
                <a:spcPct val="150000"/>
              </a:lnSpc>
            </a:pPr>
            <a:r>
              <a:rPr lang="en-US" sz="2000" dirty="0"/>
              <a:t>The project presents these essential contributions to the field: </a:t>
            </a:r>
          </a:p>
          <a:p>
            <a:pPr marL="342900" indent="-342900">
              <a:lnSpc>
                <a:spcPct val="150000"/>
              </a:lnSpc>
              <a:buFont typeface="Wingdings" panose="05000000000000000000" pitchFamily="2" charset="2"/>
              <a:buChar char="Ø"/>
            </a:pPr>
            <a:r>
              <a:rPr lang="en-US" sz="2000" dirty="0"/>
              <a:t> The research developed an AI-based plant diagnosis system that integrates real-time full-plant scanning and camera-based image capture for accurate disease detection.</a:t>
            </a:r>
          </a:p>
          <a:p>
            <a:pPr marL="342900" indent="-342900">
              <a:lnSpc>
                <a:spcPct val="150000"/>
              </a:lnSpc>
              <a:buFont typeface="Wingdings" panose="05000000000000000000" pitchFamily="2" charset="2"/>
              <a:buChar char="Ø"/>
            </a:pPr>
            <a:r>
              <a:rPr lang="en-US" sz="2000" dirty="0"/>
              <a:t>The system employs deep learning–based image analysis to automatically identify plant diseases and environmental stress symptoms at early stages.</a:t>
            </a:r>
          </a:p>
          <a:p>
            <a:pPr marL="342900" indent="-342900">
              <a:lnSpc>
                <a:spcPct val="150000"/>
              </a:lnSpc>
              <a:buFont typeface="Wingdings" panose="05000000000000000000" pitchFamily="2" charset="2"/>
              <a:buChar char="Ø"/>
            </a:pPr>
            <a:r>
              <a:rPr lang="en-US" sz="2000" dirty="0"/>
              <a:t>The research designed a step-by-step recovery roadmap generation module that provides actionable treatment and prevention recommendations.</a:t>
            </a:r>
          </a:p>
          <a:p>
            <a:pPr marL="342900" indent="-342900">
              <a:lnSpc>
                <a:spcPct val="150000"/>
              </a:lnSpc>
              <a:buFont typeface="Wingdings" panose="05000000000000000000" pitchFamily="2" charset="2"/>
              <a:buChar char="Ø"/>
            </a:pPr>
            <a:r>
              <a:rPr lang="en-US" sz="2000" dirty="0"/>
              <a:t>The system incorporates a harvest profit forecasting model that estimates yield and profitability using crop type, cultivation area, expected yield, market price, and production costs.</a:t>
            </a:r>
          </a:p>
          <a:p>
            <a:pPr marL="342900" indent="-342900">
              <a:lnSpc>
                <a:spcPct val="150000"/>
              </a:lnSpc>
              <a:buFont typeface="Wingdings" panose="05000000000000000000" pitchFamily="2" charset="2"/>
              <a:buChar char="Ø"/>
            </a:pPr>
            <a:r>
              <a:rPr lang="en-US" sz="2000" dirty="0"/>
              <a:t>Experimental evaluation demonstrates improved diagnostic accuracy and reliable forecasting performance, making the system suitable for practical smart farming and decision-support applications.</a:t>
            </a:r>
          </a:p>
          <a:p>
            <a:pPr algn="just">
              <a:lnSpc>
                <a:spcPct val="150000"/>
              </a:lnSpc>
            </a:pPr>
            <a:endParaRPr lang="en-US" sz="2000" dirty="0"/>
          </a:p>
        </p:txBody>
      </p:sp>
      <p:cxnSp>
        <p:nvCxnSpPr>
          <p:cNvPr id="9" name="Straight Connector 8">
            <a:extLst>
              <a:ext uri="{FF2B5EF4-FFF2-40B4-BE49-F238E27FC236}">
                <a16:creationId xmlns:a16="http://schemas.microsoft.com/office/drawing/2014/main" id="{14CDBF0B-F3DD-1301-CB49-F4E2C8F72AF5}"/>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9358350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B5C6F6-00EC-9AA5-2F7B-D5A10C0ECB8D}"/>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F177B57-3893-B765-163F-D936C56E8903}"/>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BD81793-BE85-4F92-4AC2-05B0B1879388}"/>
              </a:ext>
            </a:extLst>
          </p:cNvPr>
          <p:cNvSpPr txBox="1"/>
          <p:nvPr/>
        </p:nvSpPr>
        <p:spPr>
          <a:xfrm>
            <a:off x="3394710" y="283729"/>
            <a:ext cx="5200650" cy="646331"/>
          </a:xfrm>
          <a:prstGeom prst="rect">
            <a:avLst/>
          </a:prstGeom>
          <a:noFill/>
        </p:spPr>
        <p:txBody>
          <a:bodyPr wrap="square" rtlCol="0">
            <a:spAutoFit/>
          </a:bodyPr>
          <a:lstStyle/>
          <a:p>
            <a:pPr algn="ctr"/>
            <a:r>
              <a:rPr lang="en-IN" sz="3600" b="1" dirty="0"/>
              <a:t>LITERATURE SURVEY</a:t>
            </a:r>
          </a:p>
        </p:txBody>
      </p:sp>
      <p:cxnSp>
        <p:nvCxnSpPr>
          <p:cNvPr id="9" name="Straight Connector 8">
            <a:extLst>
              <a:ext uri="{FF2B5EF4-FFF2-40B4-BE49-F238E27FC236}">
                <a16:creationId xmlns:a16="http://schemas.microsoft.com/office/drawing/2014/main" id="{1D3FA599-9B63-6827-29B4-095D6BAA602E}"/>
              </a:ext>
            </a:extLst>
          </p:cNvPr>
          <p:cNvCxnSpPr/>
          <p:nvPr/>
        </p:nvCxnSpPr>
        <p:spPr>
          <a:xfrm>
            <a:off x="106680" y="972048"/>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graphicFrame>
        <p:nvGraphicFramePr>
          <p:cNvPr id="3" name="Table 2">
            <a:extLst>
              <a:ext uri="{FF2B5EF4-FFF2-40B4-BE49-F238E27FC236}">
                <a16:creationId xmlns:a16="http://schemas.microsoft.com/office/drawing/2014/main" id="{73F55BB9-44C8-955E-EAB9-1EA161E0651B}"/>
              </a:ext>
            </a:extLst>
          </p:cNvPr>
          <p:cNvGraphicFramePr>
            <a:graphicFrameLocks noGrp="1"/>
          </p:cNvGraphicFramePr>
          <p:nvPr>
            <p:extLst>
              <p:ext uri="{D42A27DB-BD31-4B8C-83A1-F6EECF244321}">
                <p14:modId xmlns:p14="http://schemas.microsoft.com/office/powerpoint/2010/main" val="308556540"/>
              </p:ext>
            </p:extLst>
          </p:nvPr>
        </p:nvGraphicFramePr>
        <p:xfrm>
          <a:off x="389642" y="982574"/>
          <a:ext cx="11412716" cy="5632332"/>
        </p:xfrm>
        <a:graphic>
          <a:graphicData uri="http://schemas.openxmlformats.org/drawingml/2006/table">
            <a:tbl>
              <a:tblPr>
                <a:tableStyleId>{5940675A-B579-460E-94D1-54222C63F5DA}</a:tableStyleId>
              </a:tblPr>
              <a:tblGrid>
                <a:gridCol w="2847707">
                  <a:extLst>
                    <a:ext uri="{9D8B030D-6E8A-4147-A177-3AD203B41FA5}">
                      <a16:colId xmlns:a16="http://schemas.microsoft.com/office/drawing/2014/main" val="129895060"/>
                    </a:ext>
                  </a:extLst>
                </a:gridCol>
                <a:gridCol w="2855003">
                  <a:extLst>
                    <a:ext uri="{9D8B030D-6E8A-4147-A177-3AD203B41FA5}">
                      <a16:colId xmlns:a16="http://schemas.microsoft.com/office/drawing/2014/main" val="355098583"/>
                    </a:ext>
                  </a:extLst>
                </a:gridCol>
                <a:gridCol w="2855003">
                  <a:extLst>
                    <a:ext uri="{9D8B030D-6E8A-4147-A177-3AD203B41FA5}">
                      <a16:colId xmlns:a16="http://schemas.microsoft.com/office/drawing/2014/main" val="432399665"/>
                    </a:ext>
                  </a:extLst>
                </a:gridCol>
                <a:gridCol w="2855003">
                  <a:extLst>
                    <a:ext uri="{9D8B030D-6E8A-4147-A177-3AD203B41FA5}">
                      <a16:colId xmlns:a16="http://schemas.microsoft.com/office/drawing/2014/main" val="217550167"/>
                    </a:ext>
                  </a:extLst>
                </a:gridCol>
              </a:tblGrid>
              <a:tr h="319375">
                <a:tc>
                  <a:txBody>
                    <a:bodyPr/>
                    <a:lstStyle/>
                    <a:p>
                      <a:pPr>
                        <a:buNone/>
                      </a:pPr>
                      <a:r>
                        <a:rPr lang="en-IN" sz="1600" b="1" dirty="0"/>
                        <a:t>Author / Year</a:t>
                      </a:r>
                    </a:p>
                  </a:txBody>
                  <a:tcPr marL="69069" marR="69069" marT="34534" marB="34534" anchor="ctr"/>
                </a:tc>
                <a:tc>
                  <a:txBody>
                    <a:bodyPr/>
                    <a:lstStyle/>
                    <a:p>
                      <a:pPr>
                        <a:buNone/>
                      </a:pPr>
                      <a:r>
                        <a:rPr lang="en-IN" sz="1600" b="1" dirty="0"/>
                        <a:t>Method Used</a:t>
                      </a:r>
                      <a:endParaRPr lang="en-IN" sz="1600" dirty="0"/>
                    </a:p>
                  </a:txBody>
                  <a:tcPr marL="69069" marR="69069" marT="34534" marB="34534" anchor="ctr"/>
                </a:tc>
                <a:tc>
                  <a:txBody>
                    <a:bodyPr/>
                    <a:lstStyle/>
                    <a:p>
                      <a:pPr>
                        <a:buNone/>
                      </a:pPr>
                      <a:r>
                        <a:rPr lang="en-IN" sz="1600" b="1"/>
                        <a:t>Data Type</a:t>
                      </a:r>
                      <a:endParaRPr lang="en-IN" sz="1600"/>
                    </a:p>
                  </a:txBody>
                  <a:tcPr marL="69069" marR="69069" marT="34534" marB="34534" anchor="ctr"/>
                </a:tc>
                <a:tc>
                  <a:txBody>
                    <a:bodyPr/>
                    <a:lstStyle/>
                    <a:p>
                      <a:pPr>
                        <a:buNone/>
                      </a:pPr>
                      <a:r>
                        <a:rPr lang="en-IN" sz="1600" b="1" dirty="0"/>
                        <a:t>Key Findings</a:t>
                      </a:r>
                      <a:endParaRPr lang="en-IN" sz="1600" dirty="0"/>
                    </a:p>
                  </a:txBody>
                  <a:tcPr marL="69069" marR="69069" marT="34534" marB="34534" anchor="ctr"/>
                </a:tc>
                <a:extLst>
                  <a:ext uri="{0D108BD9-81ED-4DB2-BD59-A6C34878D82A}">
                    <a16:rowId xmlns:a16="http://schemas.microsoft.com/office/drawing/2014/main" val="3693015192"/>
                  </a:ext>
                </a:extLst>
              </a:tr>
              <a:tr h="1269060">
                <a:tc>
                  <a:txBody>
                    <a:bodyPr/>
                    <a:lstStyle/>
                    <a:p>
                      <a:pPr>
                        <a:buNone/>
                      </a:pPr>
                      <a:r>
                        <a:rPr lang="da-DK" sz="1600" b="1" dirty="0"/>
                        <a:t>S. Kumar et al., 2024</a:t>
                      </a:r>
                      <a:endParaRPr lang="en-IN" sz="1600" b="1" dirty="0"/>
                    </a:p>
                  </a:txBody>
                  <a:tcPr anchor="ctr"/>
                </a:tc>
                <a:tc>
                  <a:txBody>
                    <a:bodyPr/>
                    <a:lstStyle/>
                    <a:p>
                      <a:pPr algn="l">
                        <a:buNone/>
                      </a:pPr>
                      <a:r>
                        <a:rPr lang="en-IN" sz="1600" dirty="0"/>
                        <a:t>CNN (Deep Learning)</a:t>
                      </a:r>
                    </a:p>
                  </a:txBody>
                  <a:tcPr anchor="ctr"/>
                </a:tc>
                <a:tc>
                  <a:txBody>
                    <a:bodyPr/>
                    <a:lstStyle/>
                    <a:p>
                      <a:pPr algn="ctr">
                        <a:buNone/>
                      </a:pPr>
                      <a:r>
                        <a:rPr lang="en-IN" sz="1600" dirty="0"/>
                        <a:t>Leaf Image Data</a:t>
                      </a:r>
                    </a:p>
                  </a:txBody>
                  <a:tcPr anchor="ctr"/>
                </a:tc>
                <a:tc>
                  <a:txBody>
                    <a:bodyPr/>
                    <a:lstStyle/>
                    <a:p>
                      <a:pPr>
                        <a:buNone/>
                      </a:pPr>
                      <a:r>
                        <a:rPr lang="en-US" sz="1600" dirty="0"/>
                        <a:t>Achieved high accuracy in plant disease classification using image preprocessing and feature extraction, but limited to detection only</a:t>
                      </a:r>
                    </a:p>
                  </a:txBody>
                  <a:tcPr anchor="ctr"/>
                </a:tc>
                <a:extLst>
                  <a:ext uri="{0D108BD9-81ED-4DB2-BD59-A6C34878D82A}">
                    <a16:rowId xmlns:a16="http://schemas.microsoft.com/office/drawing/2014/main" val="3021028083"/>
                  </a:ext>
                </a:extLst>
              </a:tr>
              <a:tr h="1043189">
                <a:tc>
                  <a:txBody>
                    <a:bodyPr/>
                    <a:lstStyle/>
                    <a:p>
                      <a:pPr>
                        <a:buNone/>
                      </a:pPr>
                      <a:r>
                        <a:rPr lang="da-DK" sz="1600" b="1" dirty="0"/>
                        <a:t>R. Sharma et al., 2024</a:t>
                      </a:r>
                    </a:p>
                  </a:txBody>
                  <a:tcPr anchor="ctr"/>
                </a:tc>
                <a:tc>
                  <a:txBody>
                    <a:bodyPr/>
                    <a:lstStyle/>
                    <a:p>
                      <a:pPr>
                        <a:buNone/>
                      </a:pPr>
                      <a:r>
                        <a:rPr lang="da-DK" sz="1600" dirty="0"/>
                        <a:t>IoT + Machine Learning</a:t>
                      </a:r>
                    </a:p>
                  </a:txBody>
                  <a:tcPr anchor="ctr"/>
                </a:tc>
                <a:tc>
                  <a:txBody>
                    <a:bodyPr/>
                    <a:lstStyle/>
                    <a:p>
                      <a:pPr algn="ctr">
                        <a:buNone/>
                      </a:pPr>
                      <a:r>
                        <a:rPr lang="da-DK" sz="1600" dirty="0"/>
                        <a:t>Sensor Data (Temperature, Humidity, Soil)</a:t>
                      </a:r>
                    </a:p>
                  </a:txBody>
                  <a:tcPr anchor="ctr"/>
                </a:tc>
                <a:tc>
                  <a:txBody>
                    <a:bodyPr/>
                    <a:lstStyle/>
                    <a:p>
                      <a:pPr algn="l">
                        <a:buNone/>
                      </a:pPr>
                      <a:r>
                        <a:rPr lang="en-US" sz="1600" dirty="0"/>
                        <a:t>Enabled early disease prediction and crop monitoring, but lacked recovery roadmap and profit analysis</a:t>
                      </a:r>
                      <a:endParaRPr lang="da-DK" sz="1600" dirty="0"/>
                    </a:p>
                  </a:txBody>
                  <a:tcPr anchor="ctr"/>
                </a:tc>
                <a:extLst>
                  <a:ext uri="{0D108BD9-81ED-4DB2-BD59-A6C34878D82A}">
                    <a16:rowId xmlns:a16="http://schemas.microsoft.com/office/drawing/2014/main" val="119168695"/>
                  </a:ext>
                </a:extLst>
              </a:tr>
              <a:tr h="1043189">
                <a:tc>
                  <a:txBody>
                    <a:bodyPr/>
                    <a:lstStyle/>
                    <a:p>
                      <a:pPr>
                        <a:buNone/>
                      </a:pPr>
                      <a:r>
                        <a:rPr lang="en-IN" sz="1600" b="1" dirty="0"/>
                        <a:t>P. Upadhyay et al., 2025</a:t>
                      </a:r>
                    </a:p>
                  </a:txBody>
                  <a:tcPr anchor="ctr"/>
                </a:tc>
                <a:tc>
                  <a:txBody>
                    <a:bodyPr/>
                    <a:lstStyle/>
                    <a:p>
                      <a:pPr>
                        <a:buNone/>
                      </a:pPr>
                      <a:r>
                        <a:rPr lang="fr-FR" sz="1600" dirty="0"/>
                        <a:t>CNN </a:t>
                      </a:r>
                      <a:r>
                        <a:rPr lang="fr-FR" sz="1600" dirty="0" err="1"/>
                        <a:t>Models</a:t>
                      </a:r>
                      <a:r>
                        <a:rPr lang="fr-FR" sz="1600" dirty="0"/>
                        <a:t> (VGG16, </a:t>
                      </a:r>
                      <a:r>
                        <a:rPr lang="fr-FR" sz="1600" dirty="0" err="1"/>
                        <a:t>ResNet</a:t>
                      </a:r>
                      <a:r>
                        <a:rPr lang="fr-FR" sz="1600" dirty="0"/>
                        <a:t>, Inception)</a:t>
                      </a:r>
                      <a:endParaRPr lang="en-IN" sz="1600" dirty="0"/>
                    </a:p>
                  </a:txBody>
                  <a:tcPr anchor="ctr"/>
                </a:tc>
                <a:tc>
                  <a:txBody>
                    <a:bodyPr/>
                    <a:lstStyle/>
                    <a:p>
                      <a:pPr algn="ctr">
                        <a:buNone/>
                      </a:pPr>
                      <a:r>
                        <a:rPr lang="en-IN" sz="1600" dirty="0"/>
                        <a:t>Image Dataset</a:t>
                      </a:r>
                    </a:p>
                  </a:txBody>
                  <a:tcPr anchor="ctr"/>
                </a:tc>
                <a:tc>
                  <a:txBody>
                    <a:bodyPr/>
                    <a:lstStyle/>
                    <a:p>
                      <a:pPr>
                        <a:buNone/>
                      </a:pPr>
                      <a:r>
                        <a:rPr lang="en-US" sz="1600" dirty="0"/>
                        <a:t>Hybrid and ensemble models improved accuracy and robustness, but no farmer-level decision support</a:t>
                      </a:r>
                    </a:p>
                  </a:txBody>
                  <a:tcPr anchor="ctr"/>
                </a:tc>
                <a:extLst>
                  <a:ext uri="{0D108BD9-81ED-4DB2-BD59-A6C34878D82A}">
                    <a16:rowId xmlns:a16="http://schemas.microsoft.com/office/drawing/2014/main" val="1864483401"/>
                  </a:ext>
                </a:extLst>
              </a:tr>
              <a:tr h="1043189">
                <a:tc>
                  <a:txBody>
                    <a:bodyPr/>
                    <a:lstStyle/>
                    <a:p>
                      <a:pPr>
                        <a:buNone/>
                      </a:pPr>
                      <a:r>
                        <a:rPr lang="da-DK" sz="1600" b="1" dirty="0"/>
                        <a:t>Y. Liu et al., 2025</a:t>
                      </a:r>
                      <a:endParaRPr lang="en-IN" sz="1600" b="1" dirty="0"/>
                    </a:p>
                  </a:txBody>
                  <a:tcPr anchor="ctr"/>
                </a:tc>
                <a:tc>
                  <a:txBody>
                    <a:bodyPr/>
                    <a:lstStyle/>
                    <a:p>
                      <a:pPr>
                        <a:buNone/>
                      </a:pPr>
                      <a:r>
                        <a:rPr lang="en-IN" sz="1600" dirty="0"/>
                        <a:t>Vision Transformer (</a:t>
                      </a:r>
                      <a:r>
                        <a:rPr lang="en-IN" sz="1600" dirty="0" err="1"/>
                        <a:t>ViT</a:t>
                      </a:r>
                      <a:r>
                        <a:rPr lang="en-IN" sz="1600" dirty="0"/>
                        <a:t>)</a:t>
                      </a:r>
                    </a:p>
                  </a:txBody>
                  <a:tcPr anchor="ctr"/>
                </a:tc>
                <a:tc>
                  <a:txBody>
                    <a:bodyPr/>
                    <a:lstStyle/>
                    <a:p>
                      <a:pPr algn="ctr">
                        <a:buNone/>
                      </a:pPr>
                      <a:r>
                        <a:rPr lang="en-IN" sz="1600" dirty="0"/>
                        <a:t>Image Data</a:t>
                      </a:r>
                    </a:p>
                  </a:txBody>
                  <a:tcPr anchor="ctr"/>
                </a:tc>
                <a:tc>
                  <a:txBody>
                    <a:bodyPr/>
                    <a:lstStyle/>
                    <a:p>
                      <a:pPr>
                        <a:buNone/>
                      </a:pPr>
                      <a:r>
                        <a:rPr lang="en-US" sz="1600" dirty="0"/>
                        <a:t>Provided better feature extraction and higher accuracy, but required high computational resources</a:t>
                      </a:r>
                    </a:p>
                  </a:txBody>
                  <a:tcPr anchor="ctr"/>
                </a:tc>
                <a:extLst>
                  <a:ext uri="{0D108BD9-81ED-4DB2-BD59-A6C34878D82A}">
                    <a16:rowId xmlns:a16="http://schemas.microsoft.com/office/drawing/2014/main" val="237158934"/>
                  </a:ext>
                </a:extLst>
              </a:tr>
              <a:tr h="801917">
                <a:tc>
                  <a:txBody>
                    <a:bodyPr/>
                    <a:lstStyle/>
                    <a:p>
                      <a:pPr>
                        <a:buNone/>
                      </a:pPr>
                      <a:r>
                        <a:rPr lang="da-DK" sz="1600" b="1" dirty="0"/>
                        <a:t>M. Rahman et al., 2025</a:t>
                      </a:r>
                      <a:endParaRPr lang="en-IN" sz="1600" b="1" dirty="0"/>
                    </a:p>
                  </a:txBody>
                  <a:tcPr anchor="ctr"/>
                </a:tc>
                <a:tc>
                  <a:txBody>
                    <a:bodyPr/>
                    <a:lstStyle/>
                    <a:p>
                      <a:pPr>
                        <a:buNone/>
                      </a:pPr>
                      <a:r>
                        <a:rPr lang="en-IN" sz="1600" dirty="0"/>
                        <a:t>Lightweight CNN (</a:t>
                      </a:r>
                      <a:r>
                        <a:rPr lang="en-IN" sz="1600" dirty="0" err="1"/>
                        <a:t>MobileNet</a:t>
                      </a:r>
                      <a:r>
                        <a:rPr lang="en-IN" sz="1600" dirty="0"/>
                        <a:t>)</a:t>
                      </a:r>
                    </a:p>
                  </a:txBody>
                  <a:tcPr anchor="ctr"/>
                </a:tc>
                <a:tc>
                  <a:txBody>
                    <a:bodyPr/>
                    <a:lstStyle/>
                    <a:p>
                      <a:pPr algn="ctr">
                        <a:buNone/>
                      </a:pPr>
                      <a:r>
                        <a:rPr lang="en-IN" sz="1600" dirty="0"/>
                        <a:t>Mobile Image Data</a:t>
                      </a:r>
                    </a:p>
                  </a:txBody>
                  <a:tcPr anchor="ctr"/>
                </a:tc>
                <a:tc>
                  <a:txBody>
                    <a:bodyPr/>
                    <a:lstStyle/>
                    <a:p>
                      <a:pPr>
                        <a:buNone/>
                      </a:pPr>
                      <a:r>
                        <a:rPr lang="en-US" sz="1600" dirty="0"/>
                        <a:t>Developed mobile-based real-time disease detection system.</a:t>
                      </a:r>
                    </a:p>
                  </a:txBody>
                  <a:tcPr anchor="ctr"/>
                </a:tc>
                <a:extLst>
                  <a:ext uri="{0D108BD9-81ED-4DB2-BD59-A6C34878D82A}">
                    <a16:rowId xmlns:a16="http://schemas.microsoft.com/office/drawing/2014/main" val="3660461152"/>
                  </a:ext>
                </a:extLst>
              </a:tr>
            </a:tbl>
          </a:graphicData>
        </a:graphic>
      </p:graphicFrame>
    </p:spTree>
    <p:extLst>
      <p:ext uri="{BB962C8B-B14F-4D97-AF65-F5344CB8AC3E}">
        <p14:creationId xmlns:p14="http://schemas.microsoft.com/office/powerpoint/2010/main" val="369199227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C1F0B3-A8FC-EC1D-0BFC-15D45D0FEED4}"/>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7204FA85-942D-9788-3A78-CDD1E42B744D}"/>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43" name="Table 42">
            <a:extLst>
              <a:ext uri="{FF2B5EF4-FFF2-40B4-BE49-F238E27FC236}">
                <a16:creationId xmlns:a16="http://schemas.microsoft.com/office/drawing/2014/main" id="{A394B978-713E-70E8-5BF6-9783B2CC46D4}"/>
              </a:ext>
            </a:extLst>
          </p:cNvPr>
          <p:cNvGraphicFramePr>
            <a:graphicFrameLocks noGrp="1"/>
          </p:cNvGraphicFramePr>
          <p:nvPr>
            <p:extLst>
              <p:ext uri="{D42A27DB-BD31-4B8C-83A1-F6EECF244321}">
                <p14:modId xmlns:p14="http://schemas.microsoft.com/office/powerpoint/2010/main" val="3178467469"/>
              </p:ext>
            </p:extLst>
          </p:nvPr>
        </p:nvGraphicFramePr>
        <p:xfrm>
          <a:off x="457200" y="1424246"/>
          <a:ext cx="11331208" cy="3800897"/>
        </p:xfrm>
        <a:graphic>
          <a:graphicData uri="http://schemas.openxmlformats.org/drawingml/2006/table">
            <a:tbl>
              <a:tblPr>
                <a:tableStyleId>{5940675A-B579-460E-94D1-54222C63F5DA}</a:tableStyleId>
              </a:tblPr>
              <a:tblGrid>
                <a:gridCol w="2152916">
                  <a:extLst>
                    <a:ext uri="{9D8B030D-6E8A-4147-A177-3AD203B41FA5}">
                      <a16:colId xmlns:a16="http://schemas.microsoft.com/office/drawing/2014/main" val="2684395064"/>
                    </a:ext>
                  </a:extLst>
                </a:gridCol>
                <a:gridCol w="2057400">
                  <a:extLst>
                    <a:ext uri="{9D8B030D-6E8A-4147-A177-3AD203B41FA5}">
                      <a16:colId xmlns:a16="http://schemas.microsoft.com/office/drawing/2014/main" val="2227657318"/>
                    </a:ext>
                  </a:extLst>
                </a:gridCol>
                <a:gridCol w="3577590">
                  <a:extLst>
                    <a:ext uri="{9D8B030D-6E8A-4147-A177-3AD203B41FA5}">
                      <a16:colId xmlns:a16="http://schemas.microsoft.com/office/drawing/2014/main" val="254552398"/>
                    </a:ext>
                  </a:extLst>
                </a:gridCol>
                <a:gridCol w="3543302">
                  <a:extLst>
                    <a:ext uri="{9D8B030D-6E8A-4147-A177-3AD203B41FA5}">
                      <a16:colId xmlns:a16="http://schemas.microsoft.com/office/drawing/2014/main" val="2544077860"/>
                    </a:ext>
                  </a:extLst>
                </a:gridCol>
              </a:tblGrid>
              <a:tr h="1476935">
                <a:tc>
                  <a:txBody>
                    <a:bodyPr/>
                    <a:lstStyle/>
                    <a:p>
                      <a:pPr>
                        <a:buNone/>
                      </a:pPr>
                      <a:r>
                        <a:rPr lang="da-DK" sz="1600" b="1" dirty="0"/>
                        <a:t>K. Reddy et al., 2026</a:t>
                      </a:r>
                    </a:p>
                  </a:txBody>
                  <a:tcPr marL="37191" marR="37191" marT="18595" marB="18595" anchor="ctr"/>
                </a:tc>
                <a:tc>
                  <a:txBody>
                    <a:bodyPr/>
                    <a:lstStyle/>
                    <a:p>
                      <a:pPr>
                        <a:buNone/>
                      </a:pPr>
                      <a:r>
                        <a:rPr lang="en-IN" sz="1600" dirty="0"/>
                        <a:t>AI + IoT + Prediction Models</a:t>
                      </a:r>
                    </a:p>
                  </a:txBody>
                  <a:tcPr marL="37191" marR="37191" marT="18595" marB="18595" anchor="ctr"/>
                </a:tc>
                <a:tc>
                  <a:txBody>
                    <a:bodyPr/>
                    <a:lstStyle/>
                    <a:p>
                      <a:pPr algn="ctr">
                        <a:buNone/>
                      </a:pPr>
                      <a:r>
                        <a:rPr lang="en-US" sz="1600" dirty="0"/>
                        <a:t>Sensor + External Data (Weather, Soil)</a:t>
                      </a:r>
                    </a:p>
                  </a:txBody>
                  <a:tcPr marL="37191" marR="37191" marT="18595" marB="18595" anchor="ctr"/>
                </a:tc>
                <a:tc>
                  <a:txBody>
                    <a:bodyPr/>
                    <a:lstStyle/>
                    <a:p>
                      <a:pPr>
                        <a:buNone/>
                      </a:pPr>
                      <a:r>
                        <a:rPr lang="en-US" sz="1600" dirty="0"/>
                        <a:t>Improved crop monitoring and yield prediction, but lacked treatment/recovery roadmap</a:t>
                      </a:r>
                    </a:p>
                  </a:txBody>
                  <a:tcPr marL="37191" marR="37191" marT="18595" marB="18595" anchor="ctr"/>
                </a:tc>
                <a:extLst>
                  <a:ext uri="{0D108BD9-81ED-4DB2-BD59-A6C34878D82A}">
                    <a16:rowId xmlns:a16="http://schemas.microsoft.com/office/drawing/2014/main" val="1312433901"/>
                  </a:ext>
                </a:extLst>
              </a:tr>
              <a:tr h="1260253">
                <a:tc>
                  <a:txBody>
                    <a:bodyPr/>
                    <a:lstStyle/>
                    <a:p>
                      <a:pPr>
                        <a:buNone/>
                      </a:pPr>
                      <a:r>
                        <a:rPr lang="da-DK" sz="1600" b="1" dirty="0"/>
                        <a:t>A. Patel et al., 2026</a:t>
                      </a:r>
                      <a:endParaRPr lang="en-IN" sz="1600" b="1" dirty="0"/>
                    </a:p>
                  </a:txBody>
                  <a:tcPr marL="37191" marR="37191" marT="18595" marB="18595" anchor="ctr"/>
                </a:tc>
                <a:tc>
                  <a:txBody>
                    <a:bodyPr/>
                    <a:lstStyle/>
                    <a:p>
                      <a:pPr>
                        <a:buNone/>
                      </a:pPr>
                      <a:r>
                        <a:rPr lang="en-IN" sz="1600" dirty="0"/>
                        <a:t>Machine Learning (Regression Models)</a:t>
                      </a:r>
                    </a:p>
                  </a:txBody>
                  <a:tcPr marL="37191" marR="37191" marT="18595" marB="18595" anchor="ctr"/>
                </a:tc>
                <a:tc>
                  <a:txBody>
                    <a:bodyPr/>
                    <a:lstStyle/>
                    <a:p>
                      <a:pPr algn="ctr">
                        <a:buNone/>
                      </a:pPr>
                      <a:r>
                        <a:rPr lang="en-US" sz="1600" dirty="0"/>
                        <a:t>Agricultural Data (Yield, Price, Cost)</a:t>
                      </a:r>
                      <a:endParaRPr lang="en-IN" sz="1600" dirty="0"/>
                    </a:p>
                  </a:txBody>
                  <a:tcPr marL="37191" marR="37191" marT="18595" marB="18595" anchor="ctr"/>
                </a:tc>
                <a:tc>
                  <a:txBody>
                    <a:bodyPr/>
                    <a:lstStyle/>
                    <a:p>
                      <a:pPr>
                        <a:buNone/>
                      </a:pPr>
                      <a:r>
                        <a:rPr lang="en-US" sz="1600" dirty="0"/>
                        <a:t>Estimated crop profit effectively, but not integrated with disease detection system</a:t>
                      </a:r>
                    </a:p>
                  </a:txBody>
                  <a:tcPr marL="37191" marR="37191" marT="18595" marB="18595" anchor="ctr"/>
                </a:tc>
                <a:extLst>
                  <a:ext uri="{0D108BD9-81ED-4DB2-BD59-A6C34878D82A}">
                    <a16:rowId xmlns:a16="http://schemas.microsoft.com/office/drawing/2014/main" val="849752897"/>
                  </a:ext>
                </a:extLst>
              </a:tr>
              <a:tr h="1063709">
                <a:tc>
                  <a:txBody>
                    <a:bodyPr/>
                    <a:lstStyle/>
                    <a:p>
                      <a:pPr algn="l">
                        <a:buNone/>
                      </a:pPr>
                      <a:r>
                        <a:rPr lang="da-DK" sz="1600" b="1" dirty="0"/>
                        <a:t>S. Gupta et al., 2026</a:t>
                      </a:r>
                      <a:endParaRPr lang="en-IN" sz="1600" b="1" dirty="0"/>
                    </a:p>
                  </a:txBody>
                  <a:tcPr marL="37191" marR="37191" marT="18595" marB="18595" anchor="ctr"/>
                </a:tc>
                <a:tc>
                  <a:txBody>
                    <a:bodyPr/>
                    <a:lstStyle/>
                    <a:p>
                      <a:pPr>
                        <a:buNone/>
                      </a:pPr>
                      <a:r>
                        <a:rPr lang="en-IN" sz="1600" dirty="0"/>
                        <a:t>AI + Market Prediction (ML Models)</a:t>
                      </a:r>
                    </a:p>
                  </a:txBody>
                  <a:tcPr marL="37191" marR="37191" marT="18595" marB="18595" anchor="ctr"/>
                </a:tc>
                <a:tc>
                  <a:txBody>
                    <a:bodyPr/>
                    <a:lstStyle/>
                    <a:p>
                      <a:pPr algn="ctr">
                        <a:buNone/>
                      </a:pPr>
                      <a:r>
                        <a:rPr lang="en-US" sz="1600" dirty="0"/>
                        <a:t>Crop Yield + Market Price Data</a:t>
                      </a:r>
                      <a:endParaRPr lang="en-IN" sz="1600" dirty="0"/>
                    </a:p>
                  </a:txBody>
                  <a:tcPr marL="37191" marR="37191" marT="18595" marB="18595" anchor="ctr"/>
                </a:tc>
                <a:tc>
                  <a:txBody>
                    <a:bodyPr/>
                    <a:lstStyle/>
                    <a:p>
                      <a:pPr>
                        <a:buNone/>
                      </a:pPr>
                      <a:r>
                        <a:rPr lang="en-US" sz="1600" dirty="0"/>
                        <a:t>Provided better crop price forecasting and decision support, but not integrated with plant disease detection</a:t>
                      </a:r>
                    </a:p>
                  </a:txBody>
                  <a:tcPr marL="37191" marR="37191" marT="18595" marB="18595" anchor="ctr"/>
                </a:tc>
                <a:extLst>
                  <a:ext uri="{0D108BD9-81ED-4DB2-BD59-A6C34878D82A}">
                    <a16:rowId xmlns:a16="http://schemas.microsoft.com/office/drawing/2014/main" val="1176012036"/>
                  </a:ext>
                </a:extLst>
              </a:tr>
            </a:tbl>
          </a:graphicData>
        </a:graphic>
      </p:graphicFrame>
    </p:spTree>
    <p:extLst>
      <p:ext uri="{BB962C8B-B14F-4D97-AF65-F5344CB8AC3E}">
        <p14:creationId xmlns:p14="http://schemas.microsoft.com/office/powerpoint/2010/main" val="163834495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497C31-68C1-F6F7-FF96-206030D484B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0ACBBB00-773C-5A2E-C243-26CFC081DBD2}"/>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A7233732-732C-9F56-76D0-570DF3DD2402}"/>
              </a:ext>
            </a:extLst>
          </p:cNvPr>
          <p:cNvSpPr txBox="1"/>
          <p:nvPr/>
        </p:nvSpPr>
        <p:spPr>
          <a:xfrm>
            <a:off x="3437572" y="299770"/>
            <a:ext cx="5316856" cy="646331"/>
          </a:xfrm>
          <a:prstGeom prst="rect">
            <a:avLst/>
          </a:prstGeom>
          <a:noFill/>
        </p:spPr>
        <p:txBody>
          <a:bodyPr wrap="square" rtlCol="0">
            <a:spAutoFit/>
          </a:bodyPr>
          <a:lstStyle/>
          <a:p>
            <a:pPr algn="ctr"/>
            <a:r>
              <a:rPr lang="en-US" sz="3600" b="1" dirty="0"/>
              <a:t>O</a:t>
            </a:r>
            <a:r>
              <a:rPr lang="en-IN" sz="3600" b="1" dirty="0"/>
              <a:t>BJECTIVES</a:t>
            </a:r>
          </a:p>
        </p:txBody>
      </p:sp>
      <p:cxnSp>
        <p:nvCxnSpPr>
          <p:cNvPr id="9" name="Straight Connector 8">
            <a:extLst>
              <a:ext uri="{FF2B5EF4-FFF2-40B4-BE49-F238E27FC236}">
                <a16:creationId xmlns:a16="http://schemas.microsoft.com/office/drawing/2014/main" id="{5A4C5FAB-466A-0AA0-AE6D-0AB48046D848}"/>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D252ED69-6CEB-DFC9-D042-82A8F9D9EDBA}"/>
              </a:ext>
            </a:extLst>
          </p:cNvPr>
          <p:cNvSpPr txBox="1"/>
          <p:nvPr/>
        </p:nvSpPr>
        <p:spPr>
          <a:xfrm>
            <a:off x="203718" y="1339900"/>
            <a:ext cx="11784564" cy="5601533"/>
          </a:xfrm>
          <a:prstGeom prst="rect">
            <a:avLst/>
          </a:prstGeom>
          <a:noFill/>
        </p:spPr>
        <p:txBody>
          <a:bodyPr wrap="square" rtlCol="0">
            <a:spAutoFit/>
          </a:bodyPr>
          <a:lstStyle/>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t>To develop an </a:t>
            </a:r>
            <a:r>
              <a:rPr lang="en-US" altLang="en-US" sz="2000" b="1" dirty="0"/>
              <a:t>AI-based plant diagnosis system</a:t>
            </a:r>
            <a:r>
              <a:rPr lang="en-US" altLang="en-US" sz="2000" dirty="0"/>
              <a:t> capable of detecting plant diseases using real-time plant scanning and camera-based image inputs.</a:t>
            </a:r>
          </a:p>
          <a:p>
            <a:pPr lvl="0" algn="just" eaLnBrk="0" fontAlgn="base" hangingPunct="0">
              <a:spcBef>
                <a:spcPct val="0"/>
              </a:spcBef>
              <a:spcAft>
                <a:spcPct val="0"/>
              </a:spcAft>
            </a:pPr>
            <a:endParaRPr lang="en-US" altLang="en-US" sz="2000" dirty="0"/>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t>To improve the </a:t>
            </a:r>
            <a:r>
              <a:rPr lang="en-US" altLang="en-US" sz="2000" b="1" dirty="0"/>
              <a:t>accuracy and speed of plant disease identification</a:t>
            </a:r>
            <a:r>
              <a:rPr lang="en-US" altLang="en-US" sz="2000" dirty="0"/>
              <a:t> compared with traditional manual diagnosis methods.</a:t>
            </a:r>
          </a:p>
          <a:p>
            <a:pPr lvl="0" algn="just" eaLnBrk="0" fontAlgn="base" hangingPunct="0">
              <a:spcBef>
                <a:spcPct val="0"/>
              </a:spcBef>
              <a:spcAft>
                <a:spcPct val="0"/>
              </a:spcAft>
            </a:pPr>
            <a:endParaRPr lang="en-US" altLang="en-US" sz="2000" dirty="0"/>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t>To design a </a:t>
            </a:r>
            <a:r>
              <a:rPr lang="en-US" altLang="en-US" sz="2000" b="1" dirty="0"/>
              <a:t>recovery roadmap module</a:t>
            </a:r>
            <a:r>
              <a:rPr lang="en-US" altLang="en-US" sz="2000" dirty="0"/>
              <a:t> that provides step-by-step guidance for treating infected plants and restoring plant health.</a:t>
            </a:r>
          </a:p>
          <a:p>
            <a:pPr lvl="0" algn="just" eaLnBrk="0" fontAlgn="base" hangingPunct="0">
              <a:spcBef>
                <a:spcPct val="0"/>
              </a:spcBef>
              <a:spcAft>
                <a:spcPct val="0"/>
              </a:spcAft>
            </a:pPr>
            <a:endParaRPr lang="en-US" altLang="en-US" sz="2000" dirty="0"/>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t>To integrate external data sources such as </a:t>
            </a:r>
            <a:r>
              <a:rPr lang="en-US" altLang="en-US" sz="2000" b="1" dirty="0"/>
              <a:t>weather conditions and crop market prices</a:t>
            </a:r>
            <a:r>
              <a:rPr lang="en-US" altLang="en-US" sz="2000" dirty="0"/>
              <a:t> for better agricultural decision-making.</a:t>
            </a:r>
          </a:p>
          <a:p>
            <a:pPr lvl="0" algn="just" eaLnBrk="0" fontAlgn="base" hangingPunct="0">
              <a:spcBef>
                <a:spcPct val="0"/>
              </a:spcBef>
              <a:spcAft>
                <a:spcPct val="0"/>
              </a:spcAft>
            </a:pPr>
            <a:endParaRPr lang="en-US" altLang="en-US" sz="2000" dirty="0"/>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t>To estimate </a:t>
            </a:r>
            <a:r>
              <a:rPr lang="en-US" altLang="en-US" sz="2000" b="1" dirty="0"/>
              <a:t>harvest profit</a:t>
            </a:r>
            <a:r>
              <a:rPr lang="en-US" altLang="en-US" sz="2000" dirty="0"/>
              <a:t> by analyzing factors like crop type, cultivation area, expected yield, market price, and production costs.</a:t>
            </a:r>
          </a:p>
          <a:p>
            <a:pPr marL="342900" lvl="0" indent="-342900" algn="just" eaLnBrk="0" fontAlgn="base" hangingPunct="0">
              <a:spcBef>
                <a:spcPct val="0"/>
              </a:spcBef>
              <a:spcAft>
                <a:spcPct val="0"/>
              </a:spcAft>
              <a:buFont typeface="Wingdings" panose="05000000000000000000" pitchFamily="2" charset="2"/>
              <a:buChar char="Ø"/>
            </a:pPr>
            <a:endParaRPr lang="en-US" altLang="en-US" sz="2000" dirty="0"/>
          </a:p>
          <a:p>
            <a:pPr marL="342900" lvl="0" indent="-342900" algn="just" eaLnBrk="0" fontAlgn="base" hangingPunct="0">
              <a:spcBef>
                <a:spcPct val="0"/>
              </a:spcBef>
              <a:spcAft>
                <a:spcPct val="0"/>
              </a:spcAft>
              <a:buFont typeface="Wingdings" panose="05000000000000000000" pitchFamily="2" charset="2"/>
              <a:buChar char="Ø"/>
            </a:pPr>
            <a:r>
              <a:rPr lang="en-US" altLang="en-US" sz="2000" dirty="0"/>
              <a:t>To support </a:t>
            </a:r>
            <a:r>
              <a:rPr lang="en-US" altLang="en-US" sz="2000" b="1" dirty="0"/>
              <a:t>smart farming practices</a:t>
            </a:r>
            <a:r>
              <a:rPr lang="en-US" altLang="en-US" sz="2000" dirty="0"/>
              <a:t> by providing farmers with automated insights and recommendations.</a:t>
            </a:r>
          </a:p>
          <a:p>
            <a:pPr lvl="0" algn="just" eaLnBrk="0" fontAlgn="base" hangingPunct="0">
              <a:spcBef>
                <a:spcPct val="0"/>
              </a:spcBef>
              <a:spcAft>
                <a:spcPct val="0"/>
              </a:spcAft>
            </a:pPr>
            <a:endParaRPr lang="en-US" altLang="en-US" sz="2000" dirty="0"/>
          </a:p>
          <a:p>
            <a:endParaRPr lang="en-IN" dirty="0"/>
          </a:p>
        </p:txBody>
      </p:sp>
      <p:sp>
        <p:nvSpPr>
          <p:cNvPr id="6" name="Rectangle 1">
            <a:extLst>
              <a:ext uri="{FF2B5EF4-FFF2-40B4-BE49-F238E27FC236}">
                <a16:creationId xmlns:a16="http://schemas.microsoft.com/office/drawing/2014/main" id="{237F24F2-3B39-AA6B-6D0B-E354EB858D9E}"/>
              </a:ext>
            </a:extLst>
          </p:cNvPr>
          <p:cNvSpPr>
            <a:spLocks noChangeArrowheads="1"/>
          </p:cNvSpPr>
          <p:nvPr/>
        </p:nvSpPr>
        <p:spPr bwMode="auto">
          <a:xfrm flipH="1" flipV="1">
            <a:off x="-793102" y="-161807"/>
            <a:ext cx="457199"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9016400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3AE1B3-6F83-5C2C-393C-564E483BEE0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6BEF35C3-F22C-3E9F-70F0-D68092384448}"/>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99F9AC3E-6645-AB73-E097-A6CC38DF89AD}"/>
              </a:ext>
            </a:extLst>
          </p:cNvPr>
          <p:cNvSpPr txBox="1"/>
          <p:nvPr/>
        </p:nvSpPr>
        <p:spPr>
          <a:xfrm>
            <a:off x="3437572" y="299770"/>
            <a:ext cx="5316856" cy="646331"/>
          </a:xfrm>
          <a:prstGeom prst="rect">
            <a:avLst/>
          </a:prstGeom>
          <a:noFill/>
        </p:spPr>
        <p:txBody>
          <a:bodyPr wrap="square" rtlCol="0">
            <a:spAutoFit/>
          </a:bodyPr>
          <a:lstStyle/>
          <a:p>
            <a:pPr algn="ctr"/>
            <a:r>
              <a:rPr lang="en-IN" sz="3600" b="1" dirty="0"/>
              <a:t>ARCHITECTURE</a:t>
            </a:r>
          </a:p>
        </p:txBody>
      </p:sp>
      <p:cxnSp>
        <p:nvCxnSpPr>
          <p:cNvPr id="9" name="Straight Connector 8">
            <a:extLst>
              <a:ext uri="{FF2B5EF4-FFF2-40B4-BE49-F238E27FC236}">
                <a16:creationId xmlns:a16="http://schemas.microsoft.com/office/drawing/2014/main" id="{306EFD62-36CC-002B-C2B1-0171AA7BD2B9}"/>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365F1772-B283-A8CD-1BAF-4117ADA443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950852" y="1606951"/>
            <a:ext cx="6919560" cy="4244708"/>
          </a:xfrm>
          <a:prstGeom prst="rect">
            <a:avLst/>
          </a:prstGeom>
        </p:spPr>
      </p:pic>
    </p:spTree>
    <p:extLst>
      <p:ext uri="{BB962C8B-B14F-4D97-AF65-F5344CB8AC3E}">
        <p14:creationId xmlns:p14="http://schemas.microsoft.com/office/powerpoint/2010/main" val="29178378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9E7F84-E4C3-B773-C628-3B43D5D3B048}"/>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5F314BE-8A42-E9BA-6A06-2FE01C9BC491}"/>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A35C62BE-EAB0-B5BB-2C92-70824234FE48}"/>
              </a:ext>
            </a:extLst>
          </p:cNvPr>
          <p:cNvSpPr txBox="1"/>
          <p:nvPr/>
        </p:nvSpPr>
        <p:spPr>
          <a:xfrm>
            <a:off x="247650" y="283729"/>
            <a:ext cx="11468100" cy="646331"/>
          </a:xfrm>
          <a:prstGeom prst="rect">
            <a:avLst/>
          </a:prstGeom>
          <a:noFill/>
        </p:spPr>
        <p:txBody>
          <a:bodyPr wrap="square" rtlCol="0">
            <a:spAutoFit/>
          </a:bodyPr>
          <a:lstStyle/>
          <a:p>
            <a:pPr algn="ctr"/>
            <a:r>
              <a:rPr lang="en-IN" sz="3600" b="1" dirty="0"/>
              <a:t>MODULE 1: MOBILE APPLICATION MODULE</a:t>
            </a:r>
          </a:p>
        </p:txBody>
      </p:sp>
      <p:sp>
        <p:nvSpPr>
          <p:cNvPr id="6" name="TextBox 5">
            <a:extLst>
              <a:ext uri="{FF2B5EF4-FFF2-40B4-BE49-F238E27FC236}">
                <a16:creationId xmlns:a16="http://schemas.microsoft.com/office/drawing/2014/main" id="{0320F245-B6AC-D7E5-1105-4058EEE60BA7}"/>
              </a:ext>
            </a:extLst>
          </p:cNvPr>
          <p:cNvSpPr txBox="1"/>
          <p:nvPr/>
        </p:nvSpPr>
        <p:spPr>
          <a:xfrm>
            <a:off x="247650" y="1613459"/>
            <a:ext cx="11695748" cy="4199611"/>
          </a:xfrm>
          <a:prstGeom prst="rect">
            <a:avLst/>
          </a:prstGeom>
          <a:noFill/>
        </p:spPr>
        <p:txBody>
          <a:bodyPr wrap="square" rtlCol="0">
            <a:spAutoFit/>
          </a:bodyPr>
          <a:lstStyle/>
          <a:p>
            <a:pPr algn="just">
              <a:lnSpc>
                <a:spcPct val="150000"/>
              </a:lnSpc>
            </a:pPr>
            <a:r>
              <a:rPr lang="en-US" sz="2000" dirty="0"/>
              <a:t>The first module is the Mobile Application Module, which acts as the main user interface of the proposed system. This module is developed using React Native, enabling the application to run efficiently on smartphones. It allows farmers and agricultural users to easily interact with the system through a simple and user-friendly interface. Using the application, farmers can capture a live image of a plant leaf using the mobile camera or upload an existing image from the device gallery. The captured image is then securely transmitted to the backend server for disease analysis. After processing, the application displays the detected plant disease, recommended recovery measures, and estimated harvest profit. This module ensures accessibility, convenience, and practical usability for farmers in real agricultural environments and supports informed crop management decisions.</a:t>
            </a:r>
            <a:endParaRPr lang="en-IN" sz="2000" dirty="0"/>
          </a:p>
        </p:txBody>
      </p:sp>
      <p:cxnSp>
        <p:nvCxnSpPr>
          <p:cNvPr id="9" name="Straight Connector 8">
            <a:extLst>
              <a:ext uri="{FF2B5EF4-FFF2-40B4-BE49-F238E27FC236}">
                <a16:creationId xmlns:a16="http://schemas.microsoft.com/office/drawing/2014/main" id="{97B998C8-B024-7EAE-B21C-08CB8CEB56C5}"/>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8947527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A330F-2582-03CA-DEFE-B561104113E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321D1B2-3181-A1F2-EED4-AA543EB4E2D5}"/>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38C9F71-FC59-EBEA-5BF5-D25A60A825E6}"/>
              </a:ext>
            </a:extLst>
          </p:cNvPr>
          <p:cNvSpPr txBox="1"/>
          <p:nvPr/>
        </p:nvSpPr>
        <p:spPr>
          <a:xfrm>
            <a:off x="106680" y="68196"/>
            <a:ext cx="12092940" cy="1754326"/>
          </a:xfrm>
          <a:prstGeom prst="rect">
            <a:avLst/>
          </a:prstGeom>
          <a:noFill/>
        </p:spPr>
        <p:txBody>
          <a:bodyPr wrap="square" rtlCol="0">
            <a:spAutoFit/>
          </a:bodyPr>
          <a:lstStyle/>
          <a:p>
            <a:pPr algn="ctr"/>
            <a:r>
              <a:rPr lang="en-IN" sz="3600" b="1" dirty="0"/>
              <a:t>MODULE 2: </a:t>
            </a:r>
            <a:r>
              <a:rPr lang="en-US" sz="3600" b="1" dirty="0"/>
              <a:t>IMAGE PROCESSING AND AI DISEASE DETECTION MODULE</a:t>
            </a:r>
            <a:endParaRPr lang="en-IN" sz="3600" b="1" dirty="0">
              <a:cs typeface="Times New Roman" panose="02020603050405020304" pitchFamily="18" charset="0"/>
            </a:endParaRPr>
          </a:p>
          <a:p>
            <a:pPr algn="ctr"/>
            <a:endParaRPr lang="en-IN" sz="3600" b="1" dirty="0"/>
          </a:p>
        </p:txBody>
      </p:sp>
      <p:sp>
        <p:nvSpPr>
          <p:cNvPr id="6" name="TextBox 5">
            <a:extLst>
              <a:ext uri="{FF2B5EF4-FFF2-40B4-BE49-F238E27FC236}">
                <a16:creationId xmlns:a16="http://schemas.microsoft.com/office/drawing/2014/main" id="{F2959170-4780-E485-D268-34C4099814A2}"/>
              </a:ext>
            </a:extLst>
          </p:cNvPr>
          <p:cNvSpPr txBox="1"/>
          <p:nvPr/>
        </p:nvSpPr>
        <p:spPr>
          <a:xfrm>
            <a:off x="297656" y="1727579"/>
            <a:ext cx="11695748" cy="4199611"/>
          </a:xfrm>
          <a:prstGeom prst="rect">
            <a:avLst/>
          </a:prstGeom>
          <a:noFill/>
        </p:spPr>
        <p:txBody>
          <a:bodyPr wrap="square" rtlCol="0">
            <a:spAutoFit/>
          </a:bodyPr>
          <a:lstStyle/>
          <a:p>
            <a:pPr algn="just">
              <a:lnSpc>
                <a:spcPct val="150000"/>
              </a:lnSpc>
            </a:pPr>
            <a:r>
              <a:rPr lang="en-US" sz="2000" dirty="0"/>
              <a:t>The second module is the Image Processing and AI Disease Detection Module, which operates within the Flask-based backend server. This module receives the uploaded plant leaf images from the mobile application and begins the analysis process. Initially, several preprocessing operations such as image resizing, normalization, and noise reduction are performed to enhance the quality and consistency of the input data. These preprocessing steps ensure that the images are suitable for deep learning analysis. After preprocessing, advanced deep learning models including VGG16, ResNet101, and InceptionV3 are applied to analyze the leaf images. These convolutional neural network architectures extract significant visual features from the images and compare them with trained patterns. As a result, the system accurately identifies and classifies the type of disease affecting the plant.</a:t>
            </a:r>
          </a:p>
        </p:txBody>
      </p:sp>
      <p:cxnSp>
        <p:nvCxnSpPr>
          <p:cNvPr id="9" name="Straight Connector 8">
            <a:extLst>
              <a:ext uri="{FF2B5EF4-FFF2-40B4-BE49-F238E27FC236}">
                <a16:creationId xmlns:a16="http://schemas.microsoft.com/office/drawing/2014/main" id="{6ADF8A7A-F294-B5FE-78C4-67B9BD5C2717}"/>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359550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416CBE-0AB5-A874-078C-CC8204482DA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5F36C68-9CDD-0BE1-E3C2-2A8C5917C327}"/>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A495E8DA-B794-6A4E-4B29-0E332DAF8C6C}"/>
              </a:ext>
            </a:extLst>
          </p:cNvPr>
          <p:cNvSpPr txBox="1"/>
          <p:nvPr/>
        </p:nvSpPr>
        <p:spPr>
          <a:xfrm>
            <a:off x="49530" y="299770"/>
            <a:ext cx="12092940" cy="646331"/>
          </a:xfrm>
          <a:prstGeom prst="rect">
            <a:avLst/>
          </a:prstGeom>
          <a:noFill/>
        </p:spPr>
        <p:txBody>
          <a:bodyPr wrap="square" rtlCol="0">
            <a:spAutoFit/>
          </a:bodyPr>
          <a:lstStyle/>
          <a:p>
            <a:pPr algn="ctr"/>
            <a:r>
              <a:rPr lang="en-IN" sz="3600" b="1" dirty="0"/>
              <a:t>MODULE 3: RECOVERY ROADMAP MODULE</a:t>
            </a:r>
          </a:p>
        </p:txBody>
      </p:sp>
      <p:sp>
        <p:nvSpPr>
          <p:cNvPr id="6" name="TextBox 5">
            <a:extLst>
              <a:ext uri="{FF2B5EF4-FFF2-40B4-BE49-F238E27FC236}">
                <a16:creationId xmlns:a16="http://schemas.microsoft.com/office/drawing/2014/main" id="{9AF38B3A-C77D-3E2C-418C-F2A6DDEB67A8}"/>
              </a:ext>
            </a:extLst>
          </p:cNvPr>
          <p:cNvSpPr txBox="1"/>
          <p:nvPr/>
        </p:nvSpPr>
        <p:spPr>
          <a:xfrm>
            <a:off x="248126" y="1629500"/>
            <a:ext cx="11695748" cy="4199611"/>
          </a:xfrm>
          <a:prstGeom prst="rect">
            <a:avLst/>
          </a:prstGeom>
          <a:noFill/>
        </p:spPr>
        <p:txBody>
          <a:bodyPr wrap="square" rtlCol="0">
            <a:spAutoFit/>
          </a:bodyPr>
          <a:lstStyle/>
          <a:p>
            <a:pPr algn="just">
              <a:lnSpc>
                <a:spcPct val="150000"/>
              </a:lnSpc>
            </a:pPr>
            <a:r>
              <a:rPr lang="en-US" sz="2000" dirty="0"/>
              <a:t>The third module is the Recovery Roadmap Module, which provides treatment recommendations based on the disease detected by the system. Once the plant disease is identified, this module generates a structured recovery plan to assist farmers in managing and treating the affected crops effectively. It analyzes the diagnosis results and suggests suitable pesticides, fertilizers, and crop protection measures that can help restore plant health. In addition, the module provides guidance on proper irrigation, soil care, and preventive agricultural practices to reduce the risk of future infections. These recommendations are designed to be simple and practical so that farmers can easily apply them in real farming conditions. By transforming the diagnosis results into clear and actionable steps, this module supports farmers in protecting their crops, improving productivity, and minimizing potential agricultural losses.</a:t>
            </a:r>
          </a:p>
        </p:txBody>
      </p:sp>
      <p:cxnSp>
        <p:nvCxnSpPr>
          <p:cNvPr id="9" name="Straight Connector 8">
            <a:extLst>
              <a:ext uri="{FF2B5EF4-FFF2-40B4-BE49-F238E27FC236}">
                <a16:creationId xmlns:a16="http://schemas.microsoft.com/office/drawing/2014/main" id="{913BBAAA-4C66-34F7-04DA-197D988C4709}"/>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187822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4FD935-7EF7-67F4-3518-433B5AC2FA8E}"/>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E3D4ED66-74B3-DC6A-EFE8-E9CF53774441}"/>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4B647BA1-62C0-D8AB-649D-DCD21D3D399D}"/>
              </a:ext>
            </a:extLst>
          </p:cNvPr>
          <p:cNvSpPr txBox="1"/>
          <p:nvPr/>
        </p:nvSpPr>
        <p:spPr>
          <a:xfrm>
            <a:off x="106680" y="11430"/>
            <a:ext cx="12092940" cy="2308324"/>
          </a:xfrm>
          <a:prstGeom prst="rect">
            <a:avLst/>
          </a:prstGeom>
          <a:noFill/>
        </p:spPr>
        <p:txBody>
          <a:bodyPr wrap="square" rtlCol="0">
            <a:spAutoFit/>
          </a:bodyPr>
          <a:lstStyle/>
          <a:p>
            <a:pPr algn="ctr"/>
            <a:r>
              <a:rPr lang="en-IN" sz="3600" b="1" dirty="0"/>
              <a:t>MODULE 4: HARVEST PROFIT ESTIMATION AND EXTERNAL SERVICES MODULE</a:t>
            </a:r>
            <a:endParaRPr lang="en-IN" sz="3600" b="1" dirty="0">
              <a:cs typeface="Times New Roman" panose="02020603050405020304" pitchFamily="18" charset="0"/>
            </a:endParaRPr>
          </a:p>
          <a:p>
            <a:pPr algn="ctr"/>
            <a:endParaRPr lang="en-IN" sz="3600" dirty="0">
              <a:cs typeface="Times New Roman" panose="02020603050405020304" pitchFamily="18" charset="0"/>
            </a:endParaRPr>
          </a:p>
          <a:p>
            <a:pPr algn="ctr"/>
            <a:endParaRPr lang="en-IN" sz="3600" b="1" dirty="0"/>
          </a:p>
        </p:txBody>
      </p:sp>
      <p:sp>
        <p:nvSpPr>
          <p:cNvPr id="6" name="TextBox 5">
            <a:extLst>
              <a:ext uri="{FF2B5EF4-FFF2-40B4-BE49-F238E27FC236}">
                <a16:creationId xmlns:a16="http://schemas.microsoft.com/office/drawing/2014/main" id="{08556D7D-8162-5642-9FA1-A38C3159BA33}"/>
              </a:ext>
            </a:extLst>
          </p:cNvPr>
          <p:cNvSpPr txBox="1"/>
          <p:nvPr/>
        </p:nvSpPr>
        <p:spPr>
          <a:xfrm>
            <a:off x="305276" y="1515389"/>
            <a:ext cx="11695748" cy="4199611"/>
          </a:xfrm>
          <a:prstGeom prst="rect">
            <a:avLst/>
          </a:prstGeom>
          <a:noFill/>
        </p:spPr>
        <p:txBody>
          <a:bodyPr wrap="square" rtlCol="0">
            <a:spAutoFit/>
          </a:bodyPr>
          <a:lstStyle/>
          <a:p>
            <a:pPr algn="just">
              <a:lnSpc>
                <a:spcPct val="150000"/>
              </a:lnSpc>
            </a:pPr>
            <a:r>
              <a:rPr lang="en-US" sz="2000" dirty="0"/>
              <a:t>The fourth module is the Harvest Profit Estimation and External Services Module, which integrates various external APIs to support intelligent decision-making for farmers. This module collects useful information from multiple services such as weather APIs to obtain real-time climate updates, crop price APIs to monitor current market values, and translation APIs to provide multilingual support for different users. By combining these external data sources, the system analyzes important agricultural factors such as crop condition, weather patterns, and market demand. Based on this analysis, it estimates the potential harvest profit that farmers can expect from their crops. The information is presented in a simple and understandable format through the mobile application. This module helps farmers plan harvesting schedules, choose the best time to sell their produce, and improve overall profitability.</a:t>
            </a:r>
          </a:p>
        </p:txBody>
      </p:sp>
      <p:cxnSp>
        <p:nvCxnSpPr>
          <p:cNvPr id="9" name="Straight Connector 8">
            <a:extLst>
              <a:ext uri="{FF2B5EF4-FFF2-40B4-BE49-F238E27FC236}">
                <a16:creationId xmlns:a16="http://schemas.microsoft.com/office/drawing/2014/main" id="{1B0FAB39-EACD-9E6C-57AE-F8E895D601E2}"/>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689793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27A87B-A4A3-0EBF-F194-FC3FE0355A81}"/>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A131BF75-6EE5-D5B2-B647-B8B6CBCA7C75}"/>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BECEFABD-64D9-7D48-4D1A-2B5EA0C9BF34}"/>
              </a:ext>
            </a:extLst>
          </p:cNvPr>
          <p:cNvSpPr txBox="1"/>
          <p:nvPr/>
        </p:nvSpPr>
        <p:spPr>
          <a:xfrm>
            <a:off x="3981488" y="63760"/>
            <a:ext cx="4042412" cy="1200329"/>
          </a:xfrm>
          <a:prstGeom prst="rect">
            <a:avLst/>
          </a:prstGeom>
          <a:noFill/>
        </p:spPr>
        <p:txBody>
          <a:bodyPr wrap="square" rtlCol="0">
            <a:spAutoFit/>
          </a:bodyPr>
          <a:lstStyle/>
          <a:p>
            <a:pPr algn="ctr"/>
            <a:r>
              <a:rPr lang="en-IN" sz="3600" b="1" dirty="0"/>
              <a:t>PROPOSED ALGORITHM</a:t>
            </a:r>
          </a:p>
        </p:txBody>
      </p:sp>
      <p:cxnSp>
        <p:nvCxnSpPr>
          <p:cNvPr id="9" name="Straight Connector 8">
            <a:extLst>
              <a:ext uri="{FF2B5EF4-FFF2-40B4-BE49-F238E27FC236}">
                <a16:creationId xmlns:a16="http://schemas.microsoft.com/office/drawing/2014/main" id="{14AC3E3D-7751-4DE1-74F5-03A64B27CEA9}"/>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620203FC-63D7-02DB-DF6C-3F8D8F8E9CB5}"/>
              </a:ext>
            </a:extLst>
          </p:cNvPr>
          <p:cNvSpPr txBox="1"/>
          <p:nvPr/>
        </p:nvSpPr>
        <p:spPr>
          <a:xfrm>
            <a:off x="586584" y="1587103"/>
            <a:ext cx="11978640" cy="4678204"/>
          </a:xfrm>
          <a:prstGeom prst="rect">
            <a:avLst/>
          </a:prstGeom>
          <a:noFill/>
        </p:spPr>
        <p:txBody>
          <a:bodyPr wrap="square" rtlCol="0">
            <a:spAutoFit/>
          </a:bodyPr>
          <a:lstStyle/>
          <a:p>
            <a:r>
              <a:rPr lang="en-US" sz="2000" b="1" dirty="0"/>
              <a:t>Input:</a:t>
            </a:r>
            <a:br>
              <a:rPr lang="en-US" sz="2000" dirty="0"/>
            </a:br>
            <a:r>
              <a:rPr lang="en-US" sz="2000" dirty="0"/>
              <a:t>Plant leaf image captured from mobile camera, crop type, cultivation area, production cost.</a:t>
            </a:r>
          </a:p>
          <a:p>
            <a:endParaRPr lang="en-US" sz="2000" dirty="0"/>
          </a:p>
          <a:p>
            <a:r>
              <a:rPr lang="en-US" sz="2000" b="1" dirty="0"/>
              <a:t>Output:</a:t>
            </a:r>
            <a:br>
              <a:rPr lang="en-US" sz="2000" dirty="0"/>
            </a:br>
            <a:r>
              <a:rPr lang="en-US" sz="2000" dirty="0"/>
              <a:t>Detected plant disease, recovery roadmap, estimated harvest profit.</a:t>
            </a:r>
          </a:p>
          <a:p>
            <a:endParaRPr lang="en-US" sz="2000" dirty="0"/>
          </a:p>
          <a:p>
            <a:pPr marL="342900" indent="-342900">
              <a:buFont typeface="Wingdings" panose="05000000000000000000" pitchFamily="2" charset="2"/>
              <a:buChar char="Ø"/>
            </a:pPr>
            <a:r>
              <a:rPr lang="en-US" sz="2000" b="1" dirty="0"/>
              <a:t>Step 1: Image Acquisition</a:t>
            </a:r>
          </a:p>
          <a:p>
            <a:r>
              <a:rPr lang="en-US" sz="2000" dirty="0"/>
              <a:t>         Capture the plant leaf image using the mobile application camera.</a:t>
            </a:r>
          </a:p>
          <a:p>
            <a:r>
              <a:rPr lang="en-US" sz="2000" dirty="0"/>
              <a:t>         Upload the image to the backend server for processing.</a:t>
            </a:r>
          </a:p>
          <a:p>
            <a:endParaRPr lang="en-US" sz="2000" dirty="0"/>
          </a:p>
          <a:p>
            <a:pPr marL="342900" indent="-342900">
              <a:buFont typeface="Wingdings" panose="05000000000000000000" pitchFamily="2" charset="2"/>
              <a:buChar char="Ø"/>
            </a:pPr>
            <a:r>
              <a:rPr lang="en-US" sz="2000" b="1" dirty="0"/>
              <a:t>Step 2: Image Preprocessing</a:t>
            </a:r>
            <a:br>
              <a:rPr lang="en-US" sz="2000" dirty="0"/>
            </a:br>
            <a:r>
              <a:rPr lang="en-US" sz="2000" dirty="0"/>
              <a:t> Resize the input image to a fixed resolution.</a:t>
            </a:r>
            <a:br>
              <a:rPr lang="en-US" sz="2000" dirty="0"/>
            </a:br>
            <a:r>
              <a:rPr lang="en-US" sz="2000" dirty="0"/>
              <a:t> Apply noise reduction and image normalization.</a:t>
            </a:r>
            <a:br>
              <a:rPr lang="en-US" sz="2000" dirty="0"/>
            </a:br>
            <a:r>
              <a:rPr lang="en-US" sz="2000" dirty="0"/>
              <a:t> Convert the image into a format suitable for deep learning models.</a:t>
            </a:r>
          </a:p>
          <a:p>
            <a:endParaRPr lang="en-IN" dirty="0"/>
          </a:p>
        </p:txBody>
      </p:sp>
    </p:spTree>
    <p:extLst>
      <p:ext uri="{BB962C8B-B14F-4D97-AF65-F5344CB8AC3E}">
        <p14:creationId xmlns:p14="http://schemas.microsoft.com/office/powerpoint/2010/main" val="301232035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820511-A9C3-9CCF-6B05-F613E064CC4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5A77A00-F21A-5D9C-A8E7-A4AD989A204D}"/>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E95CA359-E6A2-88FE-BD63-B286C6540D7A}"/>
              </a:ext>
            </a:extLst>
          </p:cNvPr>
          <p:cNvSpPr txBox="1"/>
          <p:nvPr/>
        </p:nvSpPr>
        <p:spPr>
          <a:xfrm>
            <a:off x="3981488" y="63760"/>
            <a:ext cx="4042412" cy="1200329"/>
          </a:xfrm>
          <a:prstGeom prst="rect">
            <a:avLst/>
          </a:prstGeom>
          <a:noFill/>
        </p:spPr>
        <p:txBody>
          <a:bodyPr wrap="square" rtlCol="0">
            <a:spAutoFit/>
          </a:bodyPr>
          <a:lstStyle/>
          <a:p>
            <a:pPr algn="ctr"/>
            <a:r>
              <a:rPr lang="en-IN" sz="3600" b="1" dirty="0"/>
              <a:t>PROPOSED ALGORITHM</a:t>
            </a:r>
          </a:p>
        </p:txBody>
      </p:sp>
      <p:cxnSp>
        <p:nvCxnSpPr>
          <p:cNvPr id="9" name="Straight Connector 8">
            <a:extLst>
              <a:ext uri="{FF2B5EF4-FFF2-40B4-BE49-F238E27FC236}">
                <a16:creationId xmlns:a16="http://schemas.microsoft.com/office/drawing/2014/main" id="{E9561522-8F99-337A-C748-E63E1F52E3B3}"/>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7C350FE5-C248-039B-993E-9C8A690CCA34}"/>
              </a:ext>
            </a:extLst>
          </p:cNvPr>
          <p:cNvSpPr txBox="1"/>
          <p:nvPr/>
        </p:nvSpPr>
        <p:spPr>
          <a:xfrm>
            <a:off x="213360" y="1778314"/>
            <a:ext cx="11978640" cy="4062651"/>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Step 3: Feature Extraction and Disease Detection</a:t>
            </a:r>
            <a:br>
              <a:rPr lang="en-IN" sz="2000" dirty="0"/>
            </a:br>
            <a:r>
              <a:rPr lang="en-IN" sz="2000" dirty="0"/>
              <a:t>Feed the </a:t>
            </a:r>
            <a:r>
              <a:rPr lang="en-IN" sz="2000" dirty="0" err="1"/>
              <a:t>preprocessed</a:t>
            </a:r>
            <a:r>
              <a:rPr lang="en-IN" sz="2000" dirty="0"/>
              <a:t> image into trained CNN models such as </a:t>
            </a:r>
            <a:r>
              <a:rPr lang="en-IN" sz="2000" b="1" dirty="0"/>
              <a:t>VGG16, ResNet101, or InceptionV3</a:t>
            </a:r>
            <a:r>
              <a:rPr lang="en-IN" sz="2000" dirty="0"/>
              <a:t>.</a:t>
            </a:r>
            <a:br>
              <a:rPr lang="en-IN" sz="2000" dirty="0"/>
            </a:br>
            <a:r>
              <a:rPr lang="en-IN" sz="2000" dirty="0"/>
              <a:t>Extract important visual features from the leaf image.</a:t>
            </a:r>
            <a:br>
              <a:rPr lang="en-IN" sz="2000" dirty="0"/>
            </a:br>
            <a:r>
              <a:rPr lang="en-IN" sz="2000" dirty="0"/>
              <a:t>Classify the plant condition into </a:t>
            </a:r>
            <a:r>
              <a:rPr lang="en-IN" sz="2000" b="1" dirty="0"/>
              <a:t>healthy or specific disease category</a:t>
            </a:r>
            <a:r>
              <a:rPr lang="en-IN" sz="2000" dirty="0"/>
              <a:t>.</a:t>
            </a:r>
          </a:p>
          <a:p>
            <a:endParaRPr lang="en-IN" sz="2000" dirty="0"/>
          </a:p>
          <a:p>
            <a:pPr marL="342900" indent="-342900">
              <a:buFont typeface="Wingdings" panose="05000000000000000000" pitchFamily="2" charset="2"/>
              <a:buChar char="Ø"/>
            </a:pPr>
            <a:r>
              <a:rPr lang="en-IN" sz="2000" b="1" dirty="0"/>
              <a:t>Step 4: Recovery Roadmap Generation</a:t>
            </a:r>
            <a:br>
              <a:rPr lang="en-IN" sz="2000" dirty="0"/>
            </a:br>
            <a:r>
              <a:rPr lang="en-IN" sz="2000" dirty="0"/>
              <a:t>Retrieve treatment recommendations from the knowledge database.</a:t>
            </a:r>
            <a:br>
              <a:rPr lang="en-IN" sz="2000" dirty="0"/>
            </a:br>
            <a:r>
              <a:rPr lang="en-IN" sz="2000" dirty="0"/>
              <a:t>Generate a step-by-step recovery roadmap including pesticides, fertilizers, irrigation, and preventive measures.</a:t>
            </a:r>
          </a:p>
          <a:p>
            <a:endParaRPr lang="en-IN" sz="2000" dirty="0"/>
          </a:p>
          <a:p>
            <a:pPr marL="342900" indent="-342900">
              <a:buFont typeface="Wingdings" panose="05000000000000000000" pitchFamily="2" charset="2"/>
              <a:buChar char="Ø"/>
            </a:pPr>
            <a:r>
              <a:rPr lang="en-IN" sz="2000" b="1" dirty="0"/>
              <a:t>Step 5: External Data Collection</a:t>
            </a:r>
            <a:br>
              <a:rPr lang="en-IN" sz="2000" dirty="0"/>
            </a:br>
            <a:r>
              <a:rPr lang="en-IN" sz="2000" dirty="0"/>
              <a:t>Fetch weather information using weather APIs.</a:t>
            </a:r>
            <a:br>
              <a:rPr lang="en-IN" sz="2000" dirty="0"/>
            </a:br>
            <a:r>
              <a:rPr lang="en-IN" sz="2000" dirty="0"/>
              <a:t>Retrieve current crop market prices using crop price APIs.</a:t>
            </a:r>
          </a:p>
          <a:p>
            <a:endParaRPr lang="en-IN" dirty="0"/>
          </a:p>
        </p:txBody>
      </p:sp>
    </p:spTree>
    <p:extLst>
      <p:ext uri="{BB962C8B-B14F-4D97-AF65-F5344CB8AC3E}">
        <p14:creationId xmlns:p14="http://schemas.microsoft.com/office/powerpoint/2010/main" val="178027340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437855-3F10-535C-45B0-68164292F37A}"/>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1393D5B-AD1E-396E-6ECE-0CE3CE81B185}"/>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2D2D31CD-7592-5CA3-1729-1DE53B1E5CB8}"/>
              </a:ext>
            </a:extLst>
          </p:cNvPr>
          <p:cNvSpPr txBox="1"/>
          <p:nvPr/>
        </p:nvSpPr>
        <p:spPr>
          <a:xfrm>
            <a:off x="3981488" y="63760"/>
            <a:ext cx="4042412" cy="1200329"/>
          </a:xfrm>
          <a:prstGeom prst="rect">
            <a:avLst/>
          </a:prstGeom>
          <a:noFill/>
        </p:spPr>
        <p:txBody>
          <a:bodyPr wrap="square" rtlCol="0">
            <a:spAutoFit/>
          </a:bodyPr>
          <a:lstStyle/>
          <a:p>
            <a:pPr algn="ctr"/>
            <a:r>
              <a:rPr lang="en-IN" sz="3600" b="1" dirty="0"/>
              <a:t>PROPOSED ALGORITHM</a:t>
            </a:r>
          </a:p>
        </p:txBody>
      </p:sp>
      <p:cxnSp>
        <p:nvCxnSpPr>
          <p:cNvPr id="9" name="Straight Connector 8">
            <a:extLst>
              <a:ext uri="{FF2B5EF4-FFF2-40B4-BE49-F238E27FC236}">
                <a16:creationId xmlns:a16="http://schemas.microsoft.com/office/drawing/2014/main" id="{1DCABDA1-9D47-20E4-22EE-4AAEDF7DC563}"/>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12EA7772-48C4-CDF1-4EDF-D70C6C4706A6}"/>
                  </a:ext>
                </a:extLst>
              </p:cNvPr>
              <p:cNvSpPr txBox="1"/>
              <p:nvPr/>
            </p:nvSpPr>
            <p:spPr>
              <a:xfrm>
                <a:off x="349275" y="2106534"/>
                <a:ext cx="11978640" cy="3447098"/>
              </a:xfrm>
              <a:prstGeom prst="rect">
                <a:avLst/>
              </a:prstGeom>
              <a:noFill/>
            </p:spPr>
            <p:txBody>
              <a:bodyPr wrap="square" rtlCol="0">
                <a:spAutoFit/>
              </a:bodyPr>
              <a:lstStyle/>
              <a:p>
                <a:pPr marL="342900" indent="-342900">
                  <a:buFont typeface="Wingdings" panose="05000000000000000000" pitchFamily="2" charset="2"/>
                  <a:buChar char="Ø"/>
                </a:pPr>
                <a:r>
                  <a:rPr lang="en-IN" sz="2000" b="1" dirty="0"/>
                  <a:t>Step 6: Harvest Profit Estimation</a:t>
                </a:r>
                <a:br>
                  <a:rPr lang="en-IN" sz="2000" dirty="0"/>
                </a:br>
                <a:r>
                  <a:rPr lang="en-IN" sz="2000" dirty="0"/>
                  <a:t>Estimate expected yield based on crop type, plant health condition, and cultivation area.</a:t>
                </a:r>
                <a:br>
                  <a:rPr lang="en-IN" sz="2000" dirty="0"/>
                </a:br>
                <a:r>
                  <a:rPr lang="en-IN" sz="2000" dirty="0"/>
                  <a:t>Calculate total revenue using market price data.</a:t>
                </a:r>
                <a:br>
                  <a:rPr lang="en-IN" sz="2000" dirty="0"/>
                </a:br>
                <a:r>
                  <a:rPr lang="en-IN" sz="2000" dirty="0"/>
                  <a:t>Compute harvest profit using:</a:t>
                </a:r>
              </a:p>
              <a:p>
                <a:pPr/>
                <a14:m>
                  <m:oMathPara xmlns:m="http://schemas.openxmlformats.org/officeDocument/2006/math">
                    <m:oMathParaPr>
                      <m:jc m:val="centerGroup"/>
                    </m:oMathParaPr>
                    <m:oMath xmlns:m="http://schemas.openxmlformats.org/officeDocument/2006/math">
                      <m:r>
                        <a:rPr lang="en-IN" sz="2000" i="1">
                          <a:latin typeface="Cambria Math" panose="02040503050406030204" pitchFamily="18" charset="0"/>
                        </a:rPr>
                        <m:t>𝑃𝑟𝑜𝑓𝑖𝑡</m:t>
                      </m:r>
                      <m:r>
                        <a:rPr lang="en-IN" sz="2000">
                          <a:latin typeface="Cambria Math" panose="02040503050406030204" pitchFamily="18" charset="0"/>
                        </a:rPr>
                        <m:t>=</m:t>
                      </m:r>
                      <m:d>
                        <m:dPr>
                          <m:ctrlPr>
                            <a:rPr lang="ar-AE" sz="2000" i="1">
                              <a:latin typeface="Cambria Math" panose="02040503050406030204" pitchFamily="18" charset="0"/>
                            </a:rPr>
                          </m:ctrlPr>
                        </m:dPr>
                        <m:e>
                          <m:r>
                            <a:rPr lang="ar-AE" sz="2000" i="1">
                              <a:latin typeface="Cambria Math" panose="02040503050406030204" pitchFamily="18" charset="0"/>
                            </a:rPr>
                            <m:t>𝐸𝑥𝑝𝑒𝑐𝑡𝑒𝑑</m:t>
                          </m:r>
                          <m:r>
                            <m:rPr>
                              <m:nor/>
                            </m:rPr>
                            <a:rPr lang="ar-AE" sz="2000" i="1"/>
                            <m:t> </m:t>
                          </m:r>
                          <m:r>
                            <a:rPr lang="ar-AE" sz="2000" i="1">
                              <a:latin typeface="Cambria Math" panose="02040503050406030204" pitchFamily="18" charset="0"/>
                            </a:rPr>
                            <m:t>𝑌𝑖𝑒𝑙𝑑</m:t>
                          </m:r>
                          <m:r>
                            <a:rPr lang="ar-AE" sz="2000">
                              <a:latin typeface="Cambria Math" panose="02040503050406030204" pitchFamily="18" charset="0"/>
                            </a:rPr>
                            <m:t>×</m:t>
                          </m:r>
                          <m:r>
                            <a:rPr lang="ar-AE" sz="2000" i="1">
                              <a:latin typeface="Cambria Math" panose="02040503050406030204" pitchFamily="18" charset="0"/>
                            </a:rPr>
                            <m:t>𝑀𝑎𝑟𝑘𝑒𝑡</m:t>
                          </m:r>
                          <m:r>
                            <m:rPr>
                              <m:nor/>
                            </m:rPr>
                            <a:rPr lang="ar-AE" sz="2000" i="1"/>
                            <m:t> </m:t>
                          </m:r>
                          <m:r>
                            <a:rPr lang="ar-AE" sz="2000" i="1">
                              <a:latin typeface="Cambria Math" panose="02040503050406030204" pitchFamily="18" charset="0"/>
                            </a:rPr>
                            <m:t>𝑃𝑟𝑖𝑐𝑒</m:t>
                          </m:r>
                        </m:e>
                      </m:d>
                      <m:r>
                        <a:rPr lang="ar-AE" sz="2000">
                          <a:latin typeface="Cambria Math" panose="02040503050406030204" pitchFamily="18" charset="0"/>
                        </a:rPr>
                        <m:t>−</m:t>
                      </m:r>
                      <m:r>
                        <a:rPr lang="ar-AE" sz="2000" i="1">
                          <a:latin typeface="Cambria Math" panose="02040503050406030204" pitchFamily="18" charset="0"/>
                        </a:rPr>
                        <m:t>𝑃𝑟𝑜𝑑𝑢𝑐𝑡𝑖𝑜𝑛</m:t>
                      </m:r>
                      <m:r>
                        <m:rPr>
                          <m:nor/>
                        </m:rPr>
                        <a:rPr lang="ar-AE" sz="2000" i="1"/>
                        <m:t> </m:t>
                      </m:r>
                      <m:r>
                        <a:rPr lang="ar-AE" sz="2000" i="1">
                          <a:latin typeface="Cambria Math" panose="02040503050406030204" pitchFamily="18" charset="0"/>
                        </a:rPr>
                        <m:t>𝐶𝑜𝑠𝑡</m:t>
                      </m:r>
                    </m:oMath>
                  </m:oMathPara>
                </a14:m>
                <a:endParaRPr lang="en-US" sz="2000" b="0" dirty="0"/>
              </a:p>
              <a:p>
                <a:endParaRPr lang="en-US" sz="2000" dirty="0"/>
              </a:p>
              <a:p>
                <a:endParaRPr lang="ar-AE" sz="2000" b="0" dirty="0"/>
              </a:p>
              <a:p>
                <a:pPr marL="342900" indent="-342900">
                  <a:buFont typeface="Wingdings" panose="05000000000000000000" pitchFamily="2" charset="2"/>
                  <a:buChar char="Ø"/>
                </a:pPr>
                <a:r>
                  <a:rPr lang="en-IN" sz="2000" b="1" dirty="0"/>
                  <a:t>Step 7: Result Delivery</a:t>
                </a:r>
                <a:br>
                  <a:rPr lang="en-IN" sz="2000" dirty="0"/>
                </a:br>
                <a:r>
                  <a:rPr lang="en-IN" sz="2000" dirty="0"/>
                  <a:t>Send disease detection results, recovery roadmap, and estimated profit to the mobile application.</a:t>
                </a:r>
                <a:br>
                  <a:rPr lang="en-IN" sz="2000" dirty="0"/>
                </a:br>
                <a:r>
                  <a:rPr lang="en-IN" sz="2000" dirty="0"/>
                  <a:t>Display the results to the farmer for decision-making</a:t>
                </a:r>
                <a:r>
                  <a:rPr lang="en-IN" dirty="0"/>
                  <a:t>.</a:t>
                </a:r>
              </a:p>
              <a:p>
                <a:endParaRPr lang="en-IN" dirty="0"/>
              </a:p>
            </p:txBody>
          </p:sp>
        </mc:Choice>
        <mc:Fallback xmlns="">
          <p:sp>
            <p:nvSpPr>
              <p:cNvPr id="2" name="TextBox 1">
                <a:extLst>
                  <a:ext uri="{FF2B5EF4-FFF2-40B4-BE49-F238E27FC236}">
                    <a16:creationId xmlns:a16="http://schemas.microsoft.com/office/drawing/2014/main" id="{12EA7772-48C4-CDF1-4EDF-D70C6C4706A6}"/>
                  </a:ext>
                </a:extLst>
              </p:cNvPr>
              <p:cNvSpPr txBox="1">
                <a:spLocks noRot="1" noChangeAspect="1" noMove="1" noResize="1" noEditPoints="1" noAdjustHandles="1" noChangeArrowheads="1" noChangeShapeType="1" noTextEdit="1"/>
              </p:cNvSpPr>
              <p:nvPr/>
            </p:nvSpPr>
            <p:spPr>
              <a:xfrm>
                <a:off x="349275" y="2106534"/>
                <a:ext cx="11978640" cy="3447098"/>
              </a:xfrm>
              <a:prstGeom prst="rect">
                <a:avLst/>
              </a:prstGeom>
              <a:blipFill>
                <a:blip r:embed="rId2"/>
                <a:stretch>
                  <a:fillRect l="-458" t="-1062"/>
                </a:stretch>
              </a:blipFill>
            </p:spPr>
            <p:txBody>
              <a:bodyPr/>
              <a:lstStyle/>
              <a:p>
                <a:r>
                  <a:rPr lang="en-IN">
                    <a:noFill/>
                  </a:rPr>
                  <a:t> </a:t>
                </a:r>
              </a:p>
            </p:txBody>
          </p:sp>
        </mc:Fallback>
      </mc:AlternateContent>
    </p:spTree>
    <p:extLst>
      <p:ext uri="{BB962C8B-B14F-4D97-AF65-F5344CB8AC3E}">
        <p14:creationId xmlns:p14="http://schemas.microsoft.com/office/powerpoint/2010/main" val="40626096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0E6EC4-8D69-9149-F18A-F7D40A29D8EC}"/>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1881A82B-B252-38B2-B56C-E03BBB2FD25E}"/>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C06D79C3-3453-F73C-FD33-4C8E9045CFED}"/>
              </a:ext>
            </a:extLst>
          </p:cNvPr>
          <p:cNvSpPr txBox="1"/>
          <p:nvPr/>
        </p:nvSpPr>
        <p:spPr>
          <a:xfrm>
            <a:off x="4074794" y="283729"/>
            <a:ext cx="4042412" cy="646331"/>
          </a:xfrm>
          <a:prstGeom prst="rect">
            <a:avLst/>
          </a:prstGeom>
          <a:noFill/>
        </p:spPr>
        <p:txBody>
          <a:bodyPr wrap="square" rtlCol="0">
            <a:spAutoFit/>
          </a:bodyPr>
          <a:lstStyle/>
          <a:p>
            <a:pPr algn="ctr"/>
            <a:r>
              <a:rPr lang="en-US" sz="3600" b="1" dirty="0"/>
              <a:t>O</a:t>
            </a:r>
            <a:r>
              <a:rPr lang="en-IN" sz="3600" b="1" dirty="0"/>
              <a:t>UTPUT</a:t>
            </a:r>
          </a:p>
        </p:txBody>
      </p:sp>
      <p:cxnSp>
        <p:nvCxnSpPr>
          <p:cNvPr id="9" name="Straight Connector 8">
            <a:extLst>
              <a:ext uri="{FF2B5EF4-FFF2-40B4-BE49-F238E27FC236}">
                <a16:creationId xmlns:a16="http://schemas.microsoft.com/office/drawing/2014/main" id="{C5C6746F-94DE-0E91-C476-9DE3BEE68E77}"/>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16E8FEE-7BD8-F2A1-E62B-08AD9B0DE1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0920" y="1311588"/>
            <a:ext cx="10170160" cy="5229234"/>
          </a:xfrm>
          <a:prstGeom prst="rect">
            <a:avLst/>
          </a:prstGeom>
        </p:spPr>
      </p:pic>
    </p:spTree>
    <p:extLst>
      <p:ext uri="{BB962C8B-B14F-4D97-AF65-F5344CB8AC3E}">
        <p14:creationId xmlns:p14="http://schemas.microsoft.com/office/powerpoint/2010/main" val="270060257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A4EED5-9006-CF04-461F-B26C5E9E3BF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D6FEDA81-516B-FC49-A2F7-7EFD0AF3D84B}"/>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676D97CA-019A-7EEC-6AB8-FF5196ED2838}"/>
              </a:ext>
            </a:extLst>
          </p:cNvPr>
          <p:cNvSpPr txBox="1"/>
          <p:nvPr/>
        </p:nvSpPr>
        <p:spPr>
          <a:xfrm>
            <a:off x="4074794" y="283729"/>
            <a:ext cx="4042412" cy="646331"/>
          </a:xfrm>
          <a:prstGeom prst="rect">
            <a:avLst/>
          </a:prstGeom>
          <a:noFill/>
        </p:spPr>
        <p:txBody>
          <a:bodyPr wrap="square" rtlCol="0">
            <a:spAutoFit/>
          </a:bodyPr>
          <a:lstStyle/>
          <a:p>
            <a:pPr algn="ctr"/>
            <a:r>
              <a:rPr lang="en-US" sz="3600" b="1" dirty="0"/>
              <a:t>O</a:t>
            </a:r>
            <a:r>
              <a:rPr lang="en-IN" sz="3600" b="1" dirty="0"/>
              <a:t>UTPUT</a:t>
            </a:r>
          </a:p>
        </p:txBody>
      </p:sp>
      <p:cxnSp>
        <p:nvCxnSpPr>
          <p:cNvPr id="9" name="Straight Connector 8">
            <a:extLst>
              <a:ext uri="{FF2B5EF4-FFF2-40B4-BE49-F238E27FC236}">
                <a16:creationId xmlns:a16="http://schemas.microsoft.com/office/drawing/2014/main" id="{6B54CDEE-7D93-24B5-BB94-C463E96FF660}"/>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D0BD0287-B9A2-9C1C-5D9A-3EA3574CD8D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8694" y="1294765"/>
            <a:ext cx="3086100" cy="5262880"/>
          </a:xfrm>
          <a:prstGeom prst="rect">
            <a:avLst/>
          </a:prstGeom>
        </p:spPr>
      </p:pic>
      <p:pic>
        <p:nvPicPr>
          <p:cNvPr id="8" name="Picture 7">
            <a:extLst>
              <a:ext uri="{FF2B5EF4-FFF2-40B4-BE49-F238E27FC236}">
                <a16:creationId xmlns:a16="http://schemas.microsoft.com/office/drawing/2014/main" id="{CF827CB3-ECDC-03CE-D368-E88A8E03D15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2950" y="1294765"/>
            <a:ext cx="3086100" cy="5262880"/>
          </a:xfrm>
          <a:prstGeom prst="rect">
            <a:avLst/>
          </a:prstGeom>
        </p:spPr>
      </p:pic>
      <p:pic>
        <p:nvPicPr>
          <p:cNvPr id="11" name="Picture 10">
            <a:extLst>
              <a:ext uri="{FF2B5EF4-FFF2-40B4-BE49-F238E27FC236}">
                <a16:creationId xmlns:a16="http://schemas.microsoft.com/office/drawing/2014/main" id="{88B8FE9E-99C2-EA19-81DA-CE35ADF7B0C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117206" y="1294765"/>
            <a:ext cx="3086100" cy="5262880"/>
          </a:xfrm>
          <a:prstGeom prst="rect">
            <a:avLst/>
          </a:prstGeom>
        </p:spPr>
      </p:pic>
    </p:spTree>
    <p:extLst>
      <p:ext uri="{BB962C8B-B14F-4D97-AF65-F5344CB8AC3E}">
        <p14:creationId xmlns:p14="http://schemas.microsoft.com/office/powerpoint/2010/main" val="178351415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1DFFFB-19D1-457A-4864-A40B8BC44B63}"/>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8CBE506-0989-4511-6478-99224774D64B}"/>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11AC4AF-6764-779D-2EB5-BCCC6688846C}"/>
              </a:ext>
            </a:extLst>
          </p:cNvPr>
          <p:cNvSpPr txBox="1"/>
          <p:nvPr/>
        </p:nvSpPr>
        <p:spPr>
          <a:xfrm>
            <a:off x="4074794" y="283729"/>
            <a:ext cx="4042412" cy="646331"/>
          </a:xfrm>
          <a:prstGeom prst="rect">
            <a:avLst/>
          </a:prstGeom>
          <a:noFill/>
        </p:spPr>
        <p:txBody>
          <a:bodyPr wrap="square" rtlCol="0">
            <a:spAutoFit/>
          </a:bodyPr>
          <a:lstStyle/>
          <a:p>
            <a:pPr algn="ctr"/>
            <a:r>
              <a:rPr lang="en-US" sz="3600" b="1" dirty="0"/>
              <a:t>O</a:t>
            </a:r>
            <a:r>
              <a:rPr lang="en-IN" sz="3600" b="1" dirty="0"/>
              <a:t>UTPUT</a:t>
            </a:r>
          </a:p>
        </p:txBody>
      </p:sp>
      <p:cxnSp>
        <p:nvCxnSpPr>
          <p:cNvPr id="9" name="Straight Connector 8">
            <a:extLst>
              <a:ext uri="{FF2B5EF4-FFF2-40B4-BE49-F238E27FC236}">
                <a16:creationId xmlns:a16="http://schemas.microsoft.com/office/drawing/2014/main" id="{7FC77552-6B21-05E3-D4A6-9FEDE1D58924}"/>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B503D97B-4420-EEB8-BFDE-4181BC4DB1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509270" y="1340487"/>
            <a:ext cx="3086100" cy="5171437"/>
          </a:xfrm>
          <a:prstGeom prst="rect">
            <a:avLst/>
          </a:prstGeom>
        </p:spPr>
      </p:pic>
      <p:pic>
        <p:nvPicPr>
          <p:cNvPr id="10" name="Picture 9">
            <a:extLst>
              <a:ext uri="{FF2B5EF4-FFF2-40B4-BE49-F238E27FC236}">
                <a16:creationId xmlns:a16="http://schemas.microsoft.com/office/drawing/2014/main" id="{AE72541C-58EC-CD7B-9C66-84AFEEBFA60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31030" y="1340487"/>
            <a:ext cx="3086100" cy="5171437"/>
          </a:xfrm>
          <a:prstGeom prst="rect">
            <a:avLst/>
          </a:prstGeom>
        </p:spPr>
      </p:pic>
      <p:pic>
        <p:nvPicPr>
          <p:cNvPr id="13" name="Picture 12">
            <a:extLst>
              <a:ext uri="{FF2B5EF4-FFF2-40B4-BE49-F238E27FC236}">
                <a16:creationId xmlns:a16="http://schemas.microsoft.com/office/drawing/2014/main" id="{329E2A02-0E2F-0867-C3EE-EBCAE11D784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52790" y="1340486"/>
            <a:ext cx="3086100" cy="5171437"/>
          </a:xfrm>
          <a:prstGeom prst="rect">
            <a:avLst/>
          </a:prstGeom>
        </p:spPr>
      </p:pic>
    </p:spTree>
    <p:extLst>
      <p:ext uri="{BB962C8B-B14F-4D97-AF65-F5344CB8AC3E}">
        <p14:creationId xmlns:p14="http://schemas.microsoft.com/office/powerpoint/2010/main" val="114519548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B2A71B-79FA-15B5-435C-457E757334B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B4C03F95-1228-9ADC-59C8-F6414C41B7A4}"/>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1095669F-958C-70B1-93FC-A6F6D0F1A12A}"/>
              </a:ext>
            </a:extLst>
          </p:cNvPr>
          <p:cNvSpPr txBox="1"/>
          <p:nvPr/>
        </p:nvSpPr>
        <p:spPr>
          <a:xfrm>
            <a:off x="4074794" y="283729"/>
            <a:ext cx="4042412" cy="646331"/>
          </a:xfrm>
          <a:prstGeom prst="rect">
            <a:avLst/>
          </a:prstGeom>
          <a:noFill/>
        </p:spPr>
        <p:txBody>
          <a:bodyPr wrap="square" rtlCol="0">
            <a:spAutoFit/>
          </a:bodyPr>
          <a:lstStyle/>
          <a:p>
            <a:pPr algn="ctr"/>
            <a:r>
              <a:rPr lang="en-US" sz="3600" b="1" dirty="0"/>
              <a:t>O</a:t>
            </a:r>
            <a:r>
              <a:rPr lang="en-IN" sz="3600" b="1" dirty="0"/>
              <a:t>UTPUT</a:t>
            </a:r>
          </a:p>
        </p:txBody>
      </p:sp>
      <p:cxnSp>
        <p:nvCxnSpPr>
          <p:cNvPr id="9" name="Straight Connector 8">
            <a:extLst>
              <a:ext uri="{FF2B5EF4-FFF2-40B4-BE49-F238E27FC236}">
                <a16:creationId xmlns:a16="http://schemas.microsoft.com/office/drawing/2014/main" id="{BD4529FC-C733-116F-4B4A-A707153922E6}"/>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6" name="Picture 5">
            <a:extLst>
              <a:ext uri="{FF2B5EF4-FFF2-40B4-BE49-F238E27FC236}">
                <a16:creationId xmlns:a16="http://schemas.microsoft.com/office/drawing/2014/main" id="{BE7769F5-657A-53F3-F469-C2A26CF73CC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52950" y="1355941"/>
            <a:ext cx="3086100" cy="4983900"/>
          </a:xfrm>
          <a:prstGeom prst="rect">
            <a:avLst/>
          </a:prstGeom>
        </p:spPr>
      </p:pic>
    </p:spTree>
    <p:extLst>
      <p:ext uri="{BB962C8B-B14F-4D97-AF65-F5344CB8AC3E}">
        <p14:creationId xmlns:p14="http://schemas.microsoft.com/office/powerpoint/2010/main" val="8287431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2DAD9F-7CB7-E616-718A-F37739CF93D0}"/>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59DB607C-7D02-53FE-7201-29CE5F59DD82}"/>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6625C52E-71A4-D578-8E1B-0A5FEAA6211B}"/>
              </a:ext>
            </a:extLst>
          </p:cNvPr>
          <p:cNvSpPr txBox="1"/>
          <p:nvPr/>
        </p:nvSpPr>
        <p:spPr>
          <a:xfrm>
            <a:off x="3962826" y="65548"/>
            <a:ext cx="4042412" cy="1200329"/>
          </a:xfrm>
          <a:prstGeom prst="rect">
            <a:avLst/>
          </a:prstGeom>
          <a:noFill/>
        </p:spPr>
        <p:txBody>
          <a:bodyPr wrap="square" rtlCol="0">
            <a:spAutoFit/>
          </a:bodyPr>
          <a:lstStyle/>
          <a:p>
            <a:pPr algn="ctr"/>
            <a:r>
              <a:rPr lang="en-US" sz="3600" b="1" dirty="0"/>
              <a:t>RESULTS AND DISCUSSION</a:t>
            </a:r>
            <a:endParaRPr lang="en-IN" sz="3600" b="1" dirty="0"/>
          </a:p>
        </p:txBody>
      </p:sp>
      <p:cxnSp>
        <p:nvCxnSpPr>
          <p:cNvPr id="9" name="Straight Connector 8">
            <a:extLst>
              <a:ext uri="{FF2B5EF4-FFF2-40B4-BE49-F238E27FC236}">
                <a16:creationId xmlns:a16="http://schemas.microsoft.com/office/drawing/2014/main" id="{532F0628-CF67-DE0A-F50C-31793FED662A}"/>
              </a:ext>
            </a:extLst>
          </p:cNvPr>
          <p:cNvCxnSpPr/>
          <p:nvPr/>
        </p:nvCxnSpPr>
        <p:spPr>
          <a:xfrm>
            <a:off x="106680" y="1200329"/>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8E5D56D2-67E8-0D50-CBE1-5E5A27A57745}"/>
              </a:ext>
            </a:extLst>
          </p:cNvPr>
          <p:cNvSpPr txBox="1"/>
          <p:nvPr/>
        </p:nvSpPr>
        <p:spPr>
          <a:xfrm>
            <a:off x="203718" y="1615647"/>
            <a:ext cx="11784564" cy="5232202"/>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The proposed AI-based plant diagnosis system was successfully implemented and evaluated using real-time plant leaf images captured through the mobile application. The system integrates disease detection, recovery roadmap generation, and harvest profit forecasting into a single platform, providing a complete smart farming solution.</a:t>
            </a:r>
          </a:p>
          <a:p>
            <a:pPr algn="just"/>
            <a:endParaRPr lang="en-US" sz="2000" dirty="0"/>
          </a:p>
          <a:p>
            <a:pPr marL="285750" indent="-285750" algn="just">
              <a:buFont typeface="Wingdings" panose="05000000000000000000" pitchFamily="2" charset="2"/>
              <a:buChar char="Ø"/>
            </a:pPr>
            <a:r>
              <a:rPr lang="en-US" sz="2000" dirty="0"/>
              <a:t>The deep learning models, namely </a:t>
            </a:r>
            <a:r>
              <a:rPr lang="en-US" sz="2000" b="1" dirty="0"/>
              <a:t>VGG16, ResNet101, and InceptionV3</a:t>
            </a:r>
            <a:r>
              <a:rPr lang="en-US" sz="2000" dirty="0"/>
              <a:t>, demonstrated strong performance in identifying plant diseases. After preprocessing steps such as resizing, normalization, and noise reduction, the models were able to accurately classify plant conditions into healthy and diseased categories, even under varying environmental conditions like lighting and background noise. This confirms the effectiveness of convolutional neural networks in agricultural image analysis.</a:t>
            </a:r>
          </a:p>
          <a:p>
            <a:pPr algn="just"/>
            <a:endParaRPr lang="en-US" sz="2000" dirty="0"/>
          </a:p>
          <a:p>
            <a:pPr marL="285750" indent="-285750" algn="just">
              <a:buFont typeface="Wingdings" panose="05000000000000000000" pitchFamily="2" charset="2"/>
              <a:buChar char="Ø"/>
            </a:pPr>
            <a:r>
              <a:rPr lang="en-US" sz="2000" dirty="0"/>
              <a:t>The mobile application module provided a user-friendly interface, enabling farmers to easily capture or upload plant images and receive instant results. The system outputs included detected disease type, recommended recovery measures, and estimated harvest profit, ensuring ease of use and practical applicability in real-world farming environments.</a:t>
            </a:r>
          </a:p>
          <a:p>
            <a:pPr marL="285750" indent="-285750" algn="just">
              <a:buFont typeface="Wingdings" panose="05000000000000000000" pitchFamily="2" charset="2"/>
              <a:buChar char="Ø"/>
            </a:pPr>
            <a:endParaRPr lang="en-US" dirty="0"/>
          </a:p>
          <a:p>
            <a:endParaRPr lang="en-IN" sz="1600" dirty="0"/>
          </a:p>
        </p:txBody>
      </p:sp>
    </p:spTree>
    <p:extLst>
      <p:ext uri="{BB962C8B-B14F-4D97-AF65-F5344CB8AC3E}">
        <p14:creationId xmlns:p14="http://schemas.microsoft.com/office/powerpoint/2010/main" val="373478358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854621E-4703-9065-ABD1-0ABD565D1BFB}"/>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A520F67-03C0-015B-1107-5AE5720FF904}"/>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D04891D0-5481-BF6A-9BCE-471FA77B6585}"/>
              </a:ext>
            </a:extLst>
          </p:cNvPr>
          <p:cNvSpPr txBox="1"/>
          <p:nvPr/>
        </p:nvSpPr>
        <p:spPr>
          <a:xfrm>
            <a:off x="3962826" y="65548"/>
            <a:ext cx="4042412" cy="1200329"/>
          </a:xfrm>
          <a:prstGeom prst="rect">
            <a:avLst/>
          </a:prstGeom>
          <a:noFill/>
        </p:spPr>
        <p:txBody>
          <a:bodyPr wrap="square" rtlCol="0">
            <a:spAutoFit/>
          </a:bodyPr>
          <a:lstStyle/>
          <a:p>
            <a:pPr algn="ctr"/>
            <a:r>
              <a:rPr lang="en-US" sz="3600" b="1" dirty="0"/>
              <a:t>RESULTS AND DISCUSSION</a:t>
            </a:r>
            <a:endParaRPr lang="en-IN" sz="3600" b="1" dirty="0"/>
          </a:p>
        </p:txBody>
      </p:sp>
      <p:cxnSp>
        <p:nvCxnSpPr>
          <p:cNvPr id="9" name="Straight Connector 8">
            <a:extLst>
              <a:ext uri="{FF2B5EF4-FFF2-40B4-BE49-F238E27FC236}">
                <a16:creationId xmlns:a16="http://schemas.microsoft.com/office/drawing/2014/main" id="{07BB2D1F-BC0D-9A35-7468-6F298BCA594F}"/>
              </a:ext>
            </a:extLst>
          </p:cNvPr>
          <p:cNvCxnSpPr/>
          <p:nvPr/>
        </p:nvCxnSpPr>
        <p:spPr>
          <a:xfrm>
            <a:off x="106680" y="1200329"/>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2ECBF78E-47AC-C29D-3F86-CB103CD9CD7E}"/>
              </a:ext>
            </a:extLst>
          </p:cNvPr>
          <p:cNvSpPr txBox="1"/>
          <p:nvPr/>
        </p:nvSpPr>
        <p:spPr>
          <a:xfrm>
            <a:off x="203718" y="1615647"/>
            <a:ext cx="11784564" cy="4093428"/>
          </a:xfrm>
          <a:prstGeom prst="rect">
            <a:avLst/>
          </a:prstGeom>
          <a:noFill/>
        </p:spPr>
        <p:txBody>
          <a:bodyPr wrap="square" rtlCol="0">
            <a:spAutoFit/>
          </a:bodyPr>
          <a:lstStyle/>
          <a:p>
            <a:pPr marL="342900" indent="-342900" algn="just">
              <a:buFont typeface="Wingdings" panose="05000000000000000000" pitchFamily="2" charset="2"/>
              <a:buChar char="Ø"/>
            </a:pPr>
            <a:r>
              <a:rPr lang="en-US" sz="2000" dirty="0"/>
              <a:t>The harvest profit estimation module analyzed multiple parameters such as crop type, cultivation area, expected yield, production cost, and market price. By integrating external APIs for weather updates and market trends, the system provided realistic and useful profit predictions. This enables farmers to make informed decisions regarding harvesting time and selling strategies, ultimately improving profitability.</a:t>
            </a:r>
          </a:p>
          <a:p>
            <a:pPr algn="just"/>
            <a:endParaRPr lang="en-US" sz="2000" dirty="0"/>
          </a:p>
          <a:p>
            <a:pPr marL="342900" indent="-342900" algn="just">
              <a:buFont typeface="Wingdings" panose="05000000000000000000" pitchFamily="2" charset="2"/>
              <a:buChar char="Ø"/>
            </a:pPr>
            <a:r>
              <a:rPr lang="en-US" sz="2000" dirty="0"/>
              <a:t>The overall results indicate that the proposed system significantly improves traditional plant disease diagnosis methods by providing faster, more accurate, and automated analysis. Unlike existing systems that focus only on disease detection, this system combines </a:t>
            </a:r>
            <a:r>
              <a:rPr lang="en-US" sz="2000" b="1" dirty="0"/>
              <a:t>detection, recovery guidance, and economic forecasting</a:t>
            </a:r>
            <a:r>
              <a:rPr lang="en-US" sz="2000" dirty="0"/>
              <a:t>, making it a comprehensive decision-support tool.</a:t>
            </a:r>
          </a:p>
          <a:p>
            <a:pPr marL="342900" indent="-342900" algn="just">
              <a:buFont typeface="Wingdings" panose="05000000000000000000" pitchFamily="2" charset="2"/>
              <a:buChar char="Ø"/>
            </a:pPr>
            <a:endParaRPr lang="en-US" sz="2000" dirty="0"/>
          </a:p>
          <a:p>
            <a:pPr marL="342900" indent="-342900" algn="just">
              <a:buFont typeface="Wingdings" panose="05000000000000000000" pitchFamily="2" charset="2"/>
              <a:buChar char="Ø"/>
            </a:pPr>
            <a:endParaRPr lang="en-US" sz="2000" dirty="0"/>
          </a:p>
          <a:p>
            <a:pPr algn="just"/>
            <a:r>
              <a:rPr lang="en-US" sz="2000" b="1" dirty="0"/>
              <a:t>                       “Our system not only detects plant diseases accurately but also provides recovery solutions,</a:t>
            </a:r>
          </a:p>
          <a:p>
            <a:pPr algn="just"/>
            <a:r>
              <a:rPr lang="en-US" sz="2000" b="1" dirty="0"/>
              <a:t>                         profit forecasting, making it a complete AI-based smart farming decision support system.”        </a:t>
            </a:r>
          </a:p>
        </p:txBody>
      </p:sp>
    </p:spTree>
    <p:extLst>
      <p:ext uri="{BB962C8B-B14F-4D97-AF65-F5344CB8AC3E}">
        <p14:creationId xmlns:p14="http://schemas.microsoft.com/office/powerpoint/2010/main" val="187155247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7E4EB-21D2-22D4-9E2F-C9DE53DA71A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364B807B-7F60-AB0E-B001-077F471B9149}"/>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97264985-4016-509A-63F2-910F9B340FD5}"/>
              </a:ext>
            </a:extLst>
          </p:cNvPr>
          <p:cNvSpPr txBox="1"/>
          <p:nvPr/>
        </p:nvSpPr>
        <p:spPr>
          <a:xfrm>
            <a:off x="3437572" y="299770"/>
            <a:ext cx="5316856" cy="646331"/>
          </a:xfrm>
          <a:prstGeom prst="rect">
            <a:avLst/>
          </a:prstGeom>
          <a:noFill/>
        </p:spPr>
        <p:txBody>
          <a:bodyPr wrap="square" rtlCol="0">
            <a:spAutoFit/>
          </a:bodyPr>
          <a:lstStyle/>
          <a:p>
            <a:pPr algn="ctr"/>
            <a:r>
              <a:rPr lang="en-US" sz="3600" b="1" dirty="0"/>
              <a:t>PAYMENT PROOF</a:t>
            </a:r>
            <a:endParaRPr lang="en-IN" sz="3600" b="1" dirty="0"/>
          </a:p>
        </p:txBody>
      </p:sp>
      <p:cxnSp>
        <p:nvCxnSpPr>
          <p:cNvPr id="9" name="Straight Connector 8">
            <a:extLst>
              <a:ext uri="{FF2B5EF4-FFF2-40B4-BE49-F238E27FC236}">
                <a16:creationId xmlns:a16="http://schemas.microsoft.com/office/drawing/2014/main" id="{A6B76702-F189-1FD9-D900-3AF475D65A09}"/>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pic>
        <p:nvPicPr>
          <p:cNvPr id="3" name="Picture 2">
            <a:extLst>
              <a:ext uri="{FF2B5EF4-FFF2-40B4-BE49-F238E27FC236}">
                <a16:creationId xmlns:a16="http://schemas.microsoft.com/office/drawing/2014/main" id="{9C9677B6-4E05-F6A0-68CA-226466B8556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352694" y="1503954"/>
            <a:ext cx="7635902" cy="4450702"/>
          </a:xfrm>
          <a:prstGeom prst="rect">
            <a:avLst/>
          </a:prstGeom>
        </p:spPr>
      </p:pic>
    </p:spTree>
    <p:extLst>
      <p:ext uri="{BB962C8B-B14F-4D97-AF65-F5344CB8AC3E}">
        <p14:creationId xmlns:p14="http://schemas.microsoft.com/office/powerpoint/2010/main" val="287420661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E006EEB-BEE4-A3FD-77DF-5E456B0F9847}"/>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FD827E08-70F5-B6EB-BFF2-490986E9E62D}"/>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9651B176-03F7-9509-C085-3625D4FD1613}"/>
              </a:ext>
            </a:extLst>
          </p:cNvPr>
          <p:cNvSpPr txBox="1"/>
          <p:nvPr/>
        </p:nvSpPr>
        <p:spPr>
          <a:xfrm>
            <a:off x="3437572" y="299770"/>
            <a:ext cx="5316856" cy="646331"/>
          </a:xfrm>
          <a:prstGeom prst="rect">
            <a:avLst/>
          </a:prstGeom>
          <a:noFill/>
        </p:spPr>
        <p:txBody>
          <a:bodyPr wrap="square" rtlCol="0">
            <a:spAutoFit/>
          </a:bodyPr>
          <a:lstStyle/>
          <a:p>
            <a:pPr algn="ctr"/>
            <a:r>
              <a:rPr lang="en-US" sz="3600" b="1" dirty="0"/>
              <a:t>REFERENCE</a:t>
            </a:r>
            <a:endParaRPr lang="en-IN" sz="3600" b="1" dirty="0"/>
          </a:p>
        </p:txBody>
      </p:sp>
      <p:cxnSp>
        <p:nvCxnSpPr>
          <p:cNvPr id="9" name="Straight Connector 8">
            <a:extLst>
              <a:ext uri="{FF2B5EF4-FFF2-40B4-BE49-F238E27FC236}">
                <a16:creationId xmlns:a16="http://schemas.microsoft.com/office/drawing/2014/main" id="{7EEC8CC5-180B-ED98-E77F-E0B9468DC10D}"/>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9E9D3FA-B166-8820-B6B6-500C59792006}"/>
              </a:ext>
            </a:extLst>
          </p:cNvPr>
          <p:cNvSpPr txBox="1"/>
          <p:nvPr/>
        </p:nvSpPr>
        <p:spPr>
          <a:xfrm>
            <a:off x="196645" y="1455174"/>
            <a:ext cx="11788878" cy="5016758"/>
          </a:xfrm>
          <a:prstGeom prst="rect">
            <a:avLst/>
          </a:prstGeom>
          <a:noFill/>
        </p:spPr>
        <p:txBody>
          <a:bodyPr wrap="square" rtlCol="0">
            <a:spAutoFit/>
          </a:bodyPr>
          <a:lstStyle/>
          <a:p>
            <a:pPr marL="285750" indent="-285750" algn="just">
              <a:buFont typeface="Wingdings" panose="05000000000000000000" pitchFamily="2" charset="2"/>
              <a:buChar char="Ø"/>
            </a:pPr>
            <a:r>
              <a:rPr lang="en-US" sz="2000" dirty="0"/>
              <a:t>R. </a:t>
            </a:r>
            <a:r>
              <a:rPr lang="en-US" sz="2000" dirty="0" err="1"/>
              <a:t>Febrianda</a:t>
            </a:r>
            <a:r>
              <a:rPr lang="en-US" sz="2000" dirty="0"/>
              <a:t>, “Mobile App Technology Adoption in Indonesia’s Agricultural Sector. An Analysis of Empirical View From Public R&amp;D Agency,” STI Policy and Management Journal, vol. 6, no. 1, Jul. 2021, </a:t>
            </a:r>
            <a:r>
              <a:rPr lang="en-US" sz="2000" dirty="0" err="1"/>
              <a:t>doi</a:t>
            </a:r>
            <a:r>
              <a:rPr lang="en-US" sz="2000" dirty="0"/>
              <a:t>: 10.14203/stipm.2021.302.</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US" sz="2000" dirty="0"/>
              <a:t>S. Kumar, A. Verma, and P. Singh, "Digital Agriculture: Transforming the Supply Chain," International Journal of Agricultural Research, Vol. 45, No. 3, pp. 121-135, 2023. DOI:10.1007/s00453-022-01152-4</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US" sz="2000" dirty="0"/>
              <a:t>P. Agarwal, "AI-Based Demand Forecasting for Crops," International Journal of Agricultural Informatics, Vol. 16, No. 4, pp. 55-70, 2023. DOI:10.1016/j.agrinf.2023.06.004</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US" sz="2000" dirty="0"/>
              <a:t>L. Singh, "Enhancing Direct Market Access Through Mobile Apps," IEEE Smart Agriculture Conference, IEEE, India, pp. 110-118, 2023.</a:t>
            </a:r>
          </a:p>
          <a:p>
            <a:pPr marL="285750" indent="-285750" algn="just">
              <a:buFont typeface="Wingdings" panose="05000000000000000000" pitchFamily="2" charset="2"/>
              <a:buChar char="Ø"/>
            </a:pPr>
            <a:endParaRPr lang="en-US" sz="2000" dirty="0"/>
          </a:p>
          <a:p>
            <a:pPr marL="285750" indent="-285750" algn="just">
              <a:buFont typeface="Wingdings" panose="05000000000000000000" pitchFamily="2" charset="2"/>
              <a:buChar char="Ø"/>
            </a:pPr>
            <a:r>
              <a:rPr lang="en-IN" sz="2000" dirty="0"/>
              <a:t>Y. Liu, X. Ma, L. Shu, G. P. Hancke, and A. M. Abu-Mahfouz, ‘‘From industry 4.0 to agriculture 4.0: Current status, enabling technologies, and research challenges,’’ IEEE Trans. Ind. </a:t>
            </a:r>
            <a:r>
              <a:rPr lang="en-IN" sz="2000" dirty="0" err="1"/>
              <a:t>Informat</a:t>
            </a:r>
            <a:r>
              <a:rPr lang="en-IN" sz="2000" dirty="0"/>
              <a:t>., vol. 17, no. 6, pp. 4322– 4334, Jun. 2021.</a:t>
            </a:r>
            <a:endParaRPr lang="en-US" sz="2000" dirty="0"/>
          </a:p>
        </p:txBody>
      </p:sp>
    </p:spTree>
    <p:extLst>
      <p:ext uri="{BB962C8B-B14F-4D97-AF65-F5344CB8AC3E}">
        <p14:creationId xmlns:p14="http://schemas.microsoft.com/office/powerpoint/2010/main" val="37636080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47B7E0-72BE-D1C5-FF8B-89BDD4176CD5}"/>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84150A06-95E3-83AF-7A39-B4BD02CA2026}"/>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F3C3089F-BEF7-93E9-1DCE-49994C5636ED}"/>
              </a:ext>
            </a:extLst>
          </p:cNvPr>
          <p:cNvSpPr txBox="1"/>
          <p:nvPr/>
        </p:nvSpPr>
        <p:spPr>
          <a:xfrm>
            <a:off x="3437572" y="299770"/>
            <a:ext cx="5316856" cy="646331"/>
          </a:xfrm>
          <a:prstGeom prst="rect">
            <a:avLst/>
          </a:prstGeom>
          <a:noFill/>
        </p:spPr>
        <p:txBody>
          <a:bodyPr wrap="square" rtlCol="0">
            <a:spAutoFit/>
          </a:bodyPr>
          <a:lstStyle/>
          <a:p>
            <a:pPr algn="ctr"/>
            <a:r>
              <a:rPr lang="en-US" sz="3600" b="1" dirty="0"/>
              <a:t>REFERENCE</a:t>
            </a:r>
            <a:endParaRPr lang="en-IN" sz="3600" b="1" dirty="0"/>
          </a:p>
        </p:txBody>
      </p:sp>
      <p:cxnSp>
        <p:nvCxnSpPr>
          <p:cNvPr id="9" name="Straight Connector 8">
            <a:extLst>
              <a:ext uri="{FF2B5EF4-FFF2-40B4-BE49-F238E27FC236}">
                <a16:creationId xmlns:a16="http://schemas.microsoft.com/office/drawing/2014/main" id="{D5522A68-320B-5F70-994E-1D88098AD790}"/>
              </a:ext>
            </a:extLst>
          </p:cNvPr>
          <p:cNvCxnSpPr/>
          <p:nvPr/>
        </p:nvCxnSpPr>
        <p:spPr>
          <a:xfrm>
            <a:off x="106680" y="1143000"/>
            <a:ext cx="11978640" cy="0"/>
          </a:xfrm>
          <a:prstGeom prst="line">
            <a:avLst/>
          </a:prstGeom>
          <a:ln w="57150">
            <a:solidFill>
              <a:schemeClr val="tx1"/>
            </a:solidFill>
          </a:ln>
        </p:spPr>
        <p:style>
          <a:lnRef idx="1">
            <a:schemeClr val="accent1"/>
          </a:lnRef>
          <a:fillRef idx="0">
            <a:schemeClr val="accent1"/>
          </a:fillRef>
          <a:effectRef idx="0">
            <a:schemeClr val="accent1"/>
          </a:effectRef>
          <a:fontRef idx="minor">
            <a:schemeClr val="tx1"/>
          </a:fontRef>
        </p:style>
      </p:cxnSp>
      <p:sp>
        <p:nvSpPr>
          <p:cNvPr id="2" name="TextBox 1">
            <a:extLst>
              <a:ext uri="{FF2B5EF4-FFF2-40B4-BE49-F238E27FC236}">
                <a16:creationId xmlns:a16="http://schemas.microsoft.com/office/drawing/2014/main" id="{05D04953-C6BD-CADC-EF2D-62AE5149F0CB}"/>
              </a:ext>
            </a:extLst>
          </p:cNvPr>
          <p:cNvSpPr txBox="1"/>
          <p:nvPr/>
        </p:nvSpPr>
        <p:spPr>
          <a:xfrm>
            <a:off x="201561" y="1175548"/>
            <a:ext cx="11788878" cy="5324535"/>
          </a:xfrm>
          <a:prstGeom prst="rect">
            <a:avLst/>
          </a:prstGeom>
          <a:noFill/>
        </p:spPr>
        <p:txBody>
          <a:bodyPr wrap="square" rtlCol="0">
            <a:spAutoFit/>
          </a:bodyPr>
          <a:lstStyle/>
          <a:p>
            <a:pPr marL="342900" indent="-342900" algn="just">
              <a:buFont typeface="Wingdings" panose="05000000000000000000" pitchFamily="2" charset="2"/>
              <a:buChar char="Ø"/>
            </a:pPr>
            <a:r>
              <a:rPr lang="en-IN" sz="2000" dirty="0"/>
              <a:t>E. Hossain, M. F. Hossain, and M. A. Rahaman, “A </a:t>
            </a:r>
            <a:r>
              <a:rPr lang="en-IN" sz="2000" dirty="0" err="1"/>
              <a:t>Color</a:t>
            </a:r>
            <a:r>
              <a:rPr lang="en-IN" sz="2000" dirty="0"/>
              <a:t> and Texture Based Approach for the Detection and Classification of Plant Leaf Disease Using KNN Classifier,” </a:t>
            </a:r>
            <a:r>
              <a:rPr lang="en-IN" sz="2000" i="1" dirty="0"/>
              <a:t>2nd Int. Conf. </a:t>
            </a:r>
            <a:r>
              <a:rPr lang="en-IN" sz="2000" i="1" dirty="0" err="1"/>
              <a:t>Electr</a:t>
            </a:r>
            <a:r>
              <a:rPr lang="en-IN" sz="2000" i="1" dirty="0"/>
              <a:t>. </a:t>
            </a:r>
            <a:r>
              <a:rPr lang="en-IN" sz="2000" i="1" dirty="0" err="1"/>
              <a:t>Comput</a:t>
            </a:r>
            <a:r>
              <a:rPr lang="en-IN" sz="2000" i="1" dirty="0"/>
              <a:t>. Commun. Eng. ECCE 2019</a:t>
            </a:r>
            <a:r>
              <a:rPr lang="en-IN" sz="2000" dirty="0"/>
              <a:t>, pp. 1–6, 2019, </a:t>
            </a:r>
            <a:r>
              <a:rPr lang="en-IN" sz="2000" dirty="0" err="1"/>
              <a:t>doi</a:t>
            </a:r>
            <a:r>
              <a:rPr lang="en-IN" sz="2000" dirty="0"/>
              <a:t>: 10.1109/ECACE.2019.8679247. </a:t>
            </a:r>
          </a:p>
          <a:p>
            <a:pPr algn="just"/>
            <a:endParaRPr lang="en-IN" sz="2000" dirty="0"/>
          </a:p>
          <a:p>
            <a:pPr marL="342900" indent="-342900" algn="just">
              <a:buFont typeface="Wingdings" panose="05000000000000000000" pitchFamily="2" charset="2"/>
              <a:buChar char="Ø"/>
            </a:pPr>
            <a:r>
              <a:rPr lang="en-IN" sz="2000" dirty="0"/>
              <a:t>[M. Meenakshi </a:t>
            </a:r>
            <a:r>
              <a:rPr lang="en-IN" sz="2000" i="1" dirty="0"/>
              <a:t>et al.</a:t>
            </a:r>
            <a:r>
              <a:rPr lang="en-IN" sz="2000" dirty="0"/>
              <a:t>, “A Framework Design of ML Classifier Algorithm for Retrieve the Information About the Drugs and its Quality,” </a:t>
            </a:r>
            <a:r>
              <a:rPr lang="en-IN" sz="2000" i="1" dirty="0"/>
              <a:t>2024 4th Int. Conf. Adv. </a:t>
            </a:r>
            <a:r>
              <a:rPr lang="en-IN" sz="2000" i="1" dirty="0" err="1"/>
              <a:t>Comput</a:t>
            </a:r>
            <a:r>
              <a:rPr lang="en-IN" sz="2000" i="1" dirty="0"/>
              <a:t>. </a:t>
            </a:r>
            <a:r>
              <a:rPr lang="en-IN" sz="2000" i="1" dirty="0" err="1"/>
              <a:t>Innov</a:t>
            </a:r>
            <a:r>
              <a:rPr lang="en-IN" sz="2000" i="1" dirty="0"/>
              <a:t>. Technol. Eng.</a:t>
            </a:r>
            <a:r>
              <a:rPr lang="en-IN" sz="2000" dirty="0"/>
              <a:t>, pp. 409–412, 2024, </a:t>
            </a:r>
            <a:r>
              <a:rPr lang="en-IN" sz="2000" dirty="0" err="1"/>
              <a:t>doi</a:t>
            </a:r>
            <a:r>
              <a:rPr lang="en-IN" sz="2000" dirty="0"/>
              <a:t>: 10.1109/ICACITE60783.2024.10616883.</a:t>
            </a:r>
          </a:p>
          <a:p>
            <a:pPr algn="just"/>
            <a:r>
              <a:rPr lang="en-IN" sz="2000" dirty="0"/>
              <a:t> </a:t>
            </a:r>
          </a:p>
          <a:p>
            <a:pPr marL="342900" indent="-342900" algn="just">
              <a:buFont typeface="Wingdings" panose="05000000000000000000" pitchFamily="2" charset="2"/>
              <a:buChar char="Ø"/>
            </a:pPr>
            <a:r>
              <a:rPr lang="en-IN" sz="2000" dirty="0"/>
              <a:t>D. G. V, “Surface Roughness Prediction in Turning of Monel K 500 using DWT Technique,” </a:t>
            </a:r>
            <a:r>
              <a:rPr lang="en-IN" sz="2000" i="1" dirty="0"/>
              <a:t>2023 2nd Int. Conf. Appl. </a:t>
            </a:r>
            <a:r>
              <a:rPr lang="en-IN" sz="2000" i="1" dirty="0" err="1"/>
              <a:t>Artif</a:t>
            </a:r>
            <a:r>
              <a:rPr lang="en-IN" sz="2000" i="1" dirty="0"/>
              <a:t>. Intell. </a:t>
            </a:r>
            <a:r>
              <a:rPr lang="en-IN" sz="2000" i="1" dirty="0" err="1"/>
              <a:t>Comput</a:t>
            </a:r>
            <a:r>
              <a:rPr lang="en-IN" sz="2000" i="1" dirty="0"/>
              <a:t>.</a:t>
            </a:r>
            <a:r>
              <a:rPr lang="en-IN" sz="2000" dirty="0"/>
              <a:t>, no. </a:t>
            </a:r>
            <a:r>
              <a:rPr lang="en-IN" sz="2000" dirty="0" err="1"/>
              <a:t>Icaaic</a:t>
            </a:r>
            <a:r>
              <a:rPr lang="en-IN" sz="2000" dirty="0"/>
              <a:t>, pp. 1660–1665, 2023, </a:t>
            </a:r>
            <a:r>
              <a:rPr lang="en-IN" sz="2000" dirty="0" err="1"/>
              <a:t>doi</a:t>
            </a:r>
            <a:r>
              <a:rPr lang="en-IN" sz="2000" dirty="0"/>
              <a:t>: 10.1109/ICAAIC56838.2023.10140643. </a:t>
            </a:r>
          </a:p>
          <a:p>
            <a:pPr algn="just"/>
            <a:endParaRPr lang="en-IN" sz="2000" dirty="0"/>
          </a:p>
          <a:p>
            <a:pPr marL="342900" indent="-342900" algn="just">
              <a:buFont typeface="Wingdings" panose="05000000000000000000" pitchFamily="2" charset="2"/>
              <a:buChar char="Ø"/>
            </a:pPr>
            <a:r>
              <a:rPr lang="en-IN" sz="2000" dirty="0"/>
              <a:t>S. Kamal </a:t>
            </a:r>
            <a:r>
              <a:rPr lang="en-IN" sz="2000" i="1" dirty="0"/>
              <a:t>et al.</a:t>
            </a:r>
            <a:r>
              <a:rPr lang="en-IN" sz="2000" dirty="0"/>
              <a:t>, “FCN Network-Based Weed and Crop Segmentation for IoT-Aided Agriculture Applications,” </a:t>
            </a:r>
            <a:r>
              <a:rPr lang="en-IN" sz="2000" i="1" dirty="0" err="1"/>
              <a:t>Wirel</a:t>
            </a:r>
            <a:r>
              <a:rPr lang="en-IN" sz="2000" i="1" dirty="0"/>
              <a:t>. Commun. Mob. </a:t>
            </a:r>
            <a:r>
              <a:rPr lang="en-IN" sz="2000" i="1" dirty="0" err="1"/>
              <a:t>Comput</a:t>
            </a:r>
            <a:r>
              <a:rPr lang="en-IN" sz="2000" i="1" dirty="0"/>
              <a:t>.</a:t>
            </a:r>
            <a:r>
              <a:rPr lang="en-IN" sz="2000" dirty="0"/>
              <a:t>, vol. 2022, 2022, </a:t>
            </a:r>
            <a:r>
              <a:rPr lang="en-IN" sz="2000" dirty="0" err="1"/>
              <a:t>doi</a:t>
            </a:r>
            <a:r>
              <a:rPr lang="en-IN" sz="2000" dirty="0"/>
              <a:t>: 10.1155/2022/2770706.</a:t>
            </a:r>
          </a:p>
          <a:p>
            <a:pPr algn="just"/>
            <a:endParaRPr lang="en-IN" sz="2000" dirty="0"/>
          </a:p>
          <a:p>
            <a:pPr marL="342900" indent="-342900" algn="just">
              <a:buFont typeface="Wingdings" panose="05000000000000000000" pitchFamily="2" charset="2"/>
              <a:buChar char="Ø"/>
            </a:pPr>
            <a:r>
              <a:rPr lang="en-IN" sz="2000" dirty="0"/>
              <a:t>B. </a:t>
            </a:r>
            <a:r>
              <a:rPr lang="en-IN" sz="2000" dirty="0" err="1"/>
              <a:t>Venkataramanaiah</a:t>
            </a:r>
            <a:r>
              <a:rPr lang="en-IN" sz="2000" dirty="0"/>
              <a:t>, R. M. Joany, B. Singh, T. Vinoth, G. R. S. Krishna, and T. J. Nandhini, “IoT Based Real-Time Virtual Doctor Model for Human Health Monitoring,” </a:t>
            </a:r>
            <a:r>
              <a:rPr lang="en-IN" sz="2000" i="1" dirty="0"/>
              <a:t>2023 Intell. </a:t>
            </a:r>
            <a:r>
              <a:rPr lang="en-IN" sz="2000" i="1" dirty="0" err="1"/>
              <a:t>Comput</a:t>
            </a:r>
            <a:r>
              <a:rPr lang="en-IN" sz="2000" i="1" dirty="0"/>
              <a:t>. Control Eng. Bus. Syst. ICCEBS 2023</a:t>
            </a:r>
            <a:r>
              <a:rPr lang="en-IN" sz="2000" dirty="0"/>
              <a:t>, pp. 1–5, 2023, </a:t>
            </a:r>
            <a:r>
              <a:rPr lang="en-IN" sz="2000" dirty="0" err="1"/>
              <a:t>doi</a:t>
            </a:r>
            <a:r>
              <a:rPr lang="en-IN" sz="2000" dirty="0"/>
              <a:t>: 10.1109/ICCEBS58601.2023.10448557</a:t>
            </a:r>
            <a:r>
              <a:rPr lang="en-IN" dirty="0"/>
              <a:t>.</a:t>
            </a:r>
            <a:endParaRPr lang="en-US" sz="2000" dirty="0"/>
          </a:p>
        </p:txBody>
      </p:sp>
    </p:spTree>
    <p:extLst>
      <p:ext uri="{BB962C8B-B14F-4D97-AF65-F5344CB8AC3E}">
        <p14:creationId xmlns:p14="http://schemas.microsoft.com/office/powerpoint/2010/main" val="70226071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2E71-B971-EBED-F932-372ABFD4B7BF}"/>
            </a:ext>
          </a:extLst>
        </p:cNvPr>
        <p:cNvGrpSpPr/>
        <p:nvPr/>
      </p:nvGrpSpPr>
      <p:grpSpPr>
        <a:xfrm>
          <a:off x="0" y="0"/>
          <a:ext cx="0" cy="0"/>
          <a:chOff x="0" y="0"/>
          <a:chExt cx="0" cy="0"/>
        </a:xfrm>
      </p:grpSpPr>
      <p:sp>
        <p:nvSpPr>
          <p:cNvPr id="4" name="Rectangle 3">
            <a:extLst>
              <a:ext uri="{FF2B5EF4-FFF2-40B4-BE49-F238E27FC236}">
                <a16:creationId xmlns:a16="http://schemas.microsoft.com/office/drawing/2014/main" id="{C91DE6B5-E784-C637-866E-D00A03951550}"/>
              </a:ext>
            </a:extLst>
          </p:cNvPr>
          <p:cNvSpPr/>
          <p:nvPr/>
        </p:nvSpPr>
        <p:spPr>
          <a:xfrm>
            <a:off x="106680" y="102870"/>
            <a:ext cx="11978640" cy="6606540"/>
          </a:xfrm>
          <a:prstGeom prst="rect">
            <a:avLst/>
          </a:prstGeom>
          <a:noFill/>
          <a:ln w="57150">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5" name="TextBox 4">
            <a:extLst>
              <a:ext uri="{FF2B5EF4-FFF2-40B4-BE49-F238E27FC236}">
                <a16:creationId xmlns:a16="http://schemas.microsoft.com/office/drawing/2014/main" id="{056AC31E-6AE5-56A3-6C35-0A66D408E39A}"/>
              </a:ext>
            </a:extLst>
          </p:cNvPr>
          <p:cNvSpPr txBox="1"/>
          <p:nvPr/>
        </p:nvSpPr>
        <p:spPr>
          <a:xfrm>
            <a:off x="4074794" y="2759809"/>
            <a:ext cx="4042412" cy="646331"/>
          </a:xfrm>
          <a:prstGeom prst="rect">
            <a:avLst/>
          </a:prstGeom>
          <a:noFill/>
        </p:spPr>
        <p:txBody>
          <a:bodyPr wrap="square" rtlCol="0">
            <a:spAutoFit/>
          </a:bodyPr>
          <a:lstStyle/>
          <a:p>
            <a:pPr algn="ctr"/>
            <a:r>
              <a:rPr lang="en-IN" sz="3600" b="1" dirty="0"/>
              <a:t>THANK YOU</a:t>
            </a:r>
          </a:p>
        </p:txBody>
      </p:sp>
    </p:spTree>
    <p:extLst>
      <p:ext uri="{BB962C8B-B14F-4D97-AF65-F5344CB8AC3E}">
        <p14:creationId xmlns:p14="http://schemas.microsoft.com/office/powerpoint/2010/main" val="333893719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559</TotalTime>
  <Words>2459</Words>
  <Application>Microsoft Office PowerPoint</Application>
  <PresentationFormat>Widescreen</PresentationFormat>
  <Paragraphs>136</Paragraphs>
  <Slides>24</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24</vt:i4>
      </vt:variant>
    </vt:vector>
  </HeadingPairs>
  <TitlesOfParts>
    <vt:vector size="31" baseType="lpstr">
      <vt:lpstr>Arial</vt:lpstr>
      <vt:lpstr>Calibri</vt:lpstr>
      <vt:lpstr>Calibri Light</vt:lpstr>
      <vt:lpstr>Cambria Math</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Jayashree Hero</dc:creator>
  <cp:lastModifiedBy>Sri_Hari_04@outlook.com</cp:lastModifiedBy>
  <cp:revision>10</cp:revision>
  <dcterms:created xsi:type="dcterms:W3CDTF">2025-11-28T15:51:13Z</dcterms:created>
  <dcterms:modified xsi:type="dcterms:W3CDTF">2026-04-08T15:37:21Z</dcterms:modified>
</cp:coreProperties>
</file>